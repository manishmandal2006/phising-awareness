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251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507987" y="507987"/>
            <a:ext cx="203195" cy="203195"/>
          </a:xfrm>
          <a:prstGeom prst="rect">
            <a:avLst/>
          </a:prstGeom>
        </p:spPr>
      </p:pic>
      <p:pic>
        <p:nvPicPr>
          <p:cNvPr id="3" name="Image 1" descr="preencoded.png"/>
          <p:cNvPicPr>
            <a:picLocks noChangeAspect="1"/>
          </p:cNvPicPr>
          <p:nvPr/>
        </p:nvPicPr>
        <p:blipFill>
          <a:blip r:embed="rId4"/>
          <a:srcRect/>
          <a:stretch/>
        </p:blipFill>
        <p:spPr>
          <a:xfrm>
            <a:off x="2031949" y="1015975"/>
            <a:ext cx="7112051" cy="50799"/>
          </a:xfrm>
          <a:prstGeom prst="rect">
            <a:avLst/>
          </a:prstGeom>
        </p:spPr>
      </p:pic>
      <p:sp>
        <p:nvSpPr>
          <p:cNvPr id="4" name="Text 0"/>
          <p:cNvSpPr/>
          <p:nvPr/>
        </p:nvSpPr>
        <p:spPr>
          <a:xfrm>
            <a:off x="761981" y="1015975"/>
            <a:ext cx="10667733" cy="1015975"/>
          </a:xfrm>
          <a:prstGeom prst="rect">
            <a:avLst/>
          </a:prstGeom>
          <a:noFill/>
          <a:ln/>
        </p:spPr>
        <p:txBody>
          <a:bodyPr wrap="square" lIns="0" tIns="0" rIns="0" bIns="0" rtlCol="0" anchor="t"/>
          <a:lstStyle/>
          <a:p>
            <a:pPr marL="0" indent="0" algn="ctr">
              <a:lnSpc>
                <a:spcPct val="130000"/>
              </a:lnSpc>
              <a:buNone/>
            </a:pPr>
            <a:r>
              <a:rPr lang="en-US" sz="4000" b="1" dirty="0">
                <a:solidFill>
                  <a:srgbClr val="00FFFF"/>
                </a:solidFill>
                <a:latin typeface="Calibri" pitchFamily="34" charset="0"/>
                <a:ea typeface="Calibri" pitchFamily="34" charset="-122"/>
                <a:cs typeface="Calibri" pitchFamily="34" charset="-120"/>
              </a:rPr>
              <a:t>Understanding Phishing</a:t>
            </a:r>
            <a:r>
              <a:rPr lang="en-US" sz="4000" dirty="0">
                <a:solidFill>
                  <a:srgbClr val="00FFFF"/>
                </a:solidFill>
                <a:latin typeface="Calibri" pitchFamily="34" charset="0"/>
                <a:ea typeface="Calibri" pitchFamily="34" charset="-122"/>
                <a:cs typeface="Calibri" pitchFamily="34" charset="-120"/>
              </a:rPr>
              <a:t>
</a:t>
            </a:r>
            <a:endParaRPr lang="en-US" sz="4000" dirty="0"/>
          </a:p>
        </p:txBody>
      </p:sp>
      <p:sp>
        <p:nvSpPr>
          <p:cNvPr id="5" name="Text 1"/>
          <p:cNvSpPr/>
          <p:nvPr/>
        </p:nvSpPr>
        <p:spPr>
          <a:xfrm>
            <a:off x="761981" y="2158946"/>
            <a:ext cx="10667733" cy="594345"/>
          </a:xfrm>
          <a:prstGeom prst="rect">
            <a:avLst/>
          </a:prstGeom>
          <a:noFill/>
          <a:ln/>
        </p:spPr>
        <p:txBody>
          <a:bodyPr wrap="square" lIns="0" tIns="0" rIns="0" bIns="0" rtlCol="0" anchor="t"/>
          <a:lstStyle/>
          <a:p>
            <a:pPr marL="0" indent="0" algn="ctr">
              <a:lnSpc>
                <a:spcPct val="130000"/>
              </a:lnSpc>
              <a:buNone/>
            </a:pPr>
            <a:r>
              <a:rPr lang="en-US" sz="1600" i="1" dirty="0">
                <a:solidFill>
                  <a:srgbClr val="B0B0B0"/>
                </a:solidFill>
                <a:latin typeface="Calibri" pitchFamily="34" charset="0"/>
                <a:ea typeface="Calibri" pitchFamily="34" charset="-122"/>
                <a:cs typeface="Calibri" pitchFamily="34" charset="-120"/>
              </a:rPr>
              <a:t>A comprehensive guide for Advanced, Cybersecurity Analysts</a:t>
            </a:r>
            <a:r>
              <a:rPr lang="en-US" sz="1600" dirty="0">
                <a:solidFill>
                  <a:srgbClr val="B0B0B0"/>
                </a:solidFill>
                <a:latin typeface="Calibri" pitchFamily="34" charset="0"/>
                <a:ea typeface="Calibri" pitchFamily="34" charset="-122"/>
                <a:cs typeface="Calibri" pitchFamily="34" charset="-120"/>
              </a:rPr>
              <a:t>
</a:t>
            </a:r>
            <a:endParaRPr lang="en-US" sz="1600" dirty="0"/>
          </a:p>
        </p:txBody>
      </p:sp>
      <p:sp>
        <p:nvSpPr>
          <p:cNvPr id="6" name="Text 2"/>
          <p:cNvSpPr/>
          <p:nvPr/>
        </p:nvSpPr>
        <p:spPr>
          <a:xfrm>
            <a:off x="761981" y="2920927"/>
            <a:ext cx="10667733" cy="380990"/>
          </a:xfrm>
          <a:prstGeom prst="rect">
            <a:avLst/>
          </a:prstGeom>
          <a:noFill/>
          <a:ln/>
        </p:spPr>
        <p:txBody>
          <a:bodyPr wrap="square" lIns="0" tIns="0" rIns="0" bIns="0" rtlCol="0" anchor="t"/>
          <a:lstStyle/>
          <a:p>
            <a:pPr marL="0" indent="0" algn="ctr">
              <a:lnSpc>
                <a:spcPct val="130000"/>
              </a:lnSpc>
              <a:buNone/>
            </a:pPr>
            <a:r>
              <a:rPr lang="en-US" sz="1100" dirty="0">
                <a:solidFill>
                  <a:srgbClr val="888888"/>
                </a:solidFill>
                <a:latin typeface="Calibri" pitchFamily="34" charset="0"/>
                <a:ea typeface="Calibri" pitchFamily="34" charset="-122"/>
                <a:cs typeface="Calibri" pitchFamily="34" charset="-120"/>
              </a:rPr>
              <a:t>PRESENTED BY
</a:t>
            </a:r>
            <a:endParaRPr lang="en-US" sz="1100" dirty="0"/>
          </a:p>
        </p:txBody>
      </p:sp>
      <p:sp>
        <p:nvSpPr>
          <p:cNvPr id="7" name="Text 3"/>
          <p:cNvSpPr/>
          <p:nvPr/>
        </p:nvSpPr>
        <p:spPr>
          <a:xfrm>
            <a:off x="761981" y="3225719"/>
            <a:ext cx="10667733" cy="507987"/>
          </a:xfrm>
          <a:prstGeom prst="rect">
            <a:avLst/>
          </a:prstGeom>
          <a:noFill/>
          <a:ln/>
        </p:spPr>
        <p:txBody>
          <a:bodyPr wrap="square" lIns="0" tIns="0" rIns="0" bIns="0" rtlCol="0" anchor="t"/>
          <a:lstStyle/>
          <a:p>
            <a:pPr marL="0" indent="0" algn="ctr">
              <a:lnSpc>
                <a:spcPct val="130000"/>
              </a:lnSpc>
              <a:buNone/>
            </a:pPr>
            <a:r>
              <a:rPr lang="en-US" sz="2200" dirty="0">
                <a:solidFill>
                  <a:srgbClr val="FFFFFF"/>
                </a:solidFill>
                <a:latin typeface="Calibri" pitchFamily="34" charset="0"/>
                <a:ea typeface="Calibri" pitchFamily="34" charset="-122"/>
                <a:cs typeface="Calibri" pitchFamily="34" charset="-120"/>
              </a:rPr>
              <a:t>Manish Kumar</a:t>
            </a:r>
            <a:endParaRPr lang="en-US" sz="2200" dirty="0"/>
          </a:p>
        </p:txBody>
      </p:sp>
      <p:sp>
        <p:nvSpPr>
          <p:cNvPr id="8" name="Text 4"/>
          <p:cNvSpPr/>
          <p:nvPr/>
        </p:nvSpPr>
        <p:spPr>
          <a:xfrm>
            <a:off x="761981" y="3809905"/>
            <a:ext cx="10667733" cy="457189"/>
          </a:xfrm>
          <a:prstGeom prst="rect">
            <a:avLst/>
          </a:prstGeom>
          <a:noFill/>
          <a:ln/>
        </p:spPr>
        <p:txBody>
          <a:bodyPr wrap="square" lIns="0" tIns="0" rIns="0" bIns="0" rtlCol="0" anchor="t"/>
          <a:lstStyle/>
          <a:p>
            <a:pPr marL="0" indent="0" algn="ctr">
              <a:lnSpc>
                <a:spcPct val="130000"/>
              </a:lnSpc>
              <a:buNone/>
            </a:pPr>
            <a:r>
              <a:rPr lang="en-US" sz="1800" dirty="0"/>
              <a:t>Internshi</a:t>
            </a:r>
            <a:r>
              <a:rPr lang="en-US" dirty="0"/>
              <a:t>p </a:t>
            </a:r>
            <a:r>
              <a:rPr lang="en-US" dirty="0" err="1"/>
              <a:t>Programm</a:t>
            </a:r>
            <a:r>
              <a:rPr lang="en-US" dirty="0"/>
              <a:t> -</a:t>
            </a:r>
            <a:r>
              <a:rPr lang="en-US" dirty="0" err="1"/>
              <a:t>CodeAlpha</a:t>
            </a:r>
            <a:endParaRPr lang="en-US" sz="1800" dirty="0"/>
          </a:p>
        </p:txBody>
      </p:sp>
      <p:sp>
        <p:nvSpPr>
          <p:cNvPr id="9" name="Text 5"/>
          <p:cNvSpPr/>
          <p:nvPr/>
        </p:nvSpPr>
        <p:spPr>
          <a:xfrm>
            <a:off x="761981" y="4381390"/>
            <a:ext cx="10667733" cy="380990"/>
          </a:xfrm>
          <a:prstGeom prst="rect">
            <a:avLst/>
          </a:prstGeom>
          <a:noFill/>
          <a:ln/>
        </p:spPr>
        <p:txBody>
          <a:bodyPr wrap="square" lIns="0" tIns="0" rIns="0" bIns="0" rtlCol="0" anchor="t"/>
          <a:lstStyle/>
          <a:p>
            <a:pPr marL="0" indent="0" algn="ctr">
              <a:lnSpc>
                <a:spcPct val="130000"/>
              </a:lnSpc>
              <a:buNone/>
            </a:pPr>
            <a:r>
              <a:rPr lang="en-US" sz="1400" dirty="0">
                <a:solidFill>
                  <a:srgbClr val="B0B0B0"/>
                </a:solidFill>
                <a:latin typeface="Calibri" pitchFamily="34" charset="0"/>
                <a:ea typeface="Calibri" pitchFamily="34" charset="-122"/>
                <a:cs typeface="Calibri" pitchFamily="34" charset="-120"/>
              </a:rPr>
              <a:t>July 15, 2026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8140496" cy="533387"/>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Understanding Phishing
</a:t>
            </a:r>
            <a:endParaRPr lang="en-US" sz="2900" dirty="0"/>
          </a:p>
        </p:txBody>
      </p:sp>
      <p:pic>
        <p:nvPicPr>
          <p:cNvPr id="3" name="Image 0" descr="preencoded.png"/>
          <p:cNvPicPr>
            <a:picLocks noChangeAspect="1"/>
          </p:cNvPicPr>
          <p:nvPr/>
        </p:nvPicPr>
        <p:blipFill>
          <a:blip r:embed="rId3"/>
          <a:srcRect/>
          <a:stretch/>
        </p:blipFill>
        <p:spPr>
          <a:xfrm>
            <a:off x="8775481" y="0"/>
            <a:ext cx="3370495" cy="6812280"/>
          </a:xfrm>
          <a:prstGeom prst="rect">
            <a:avLst/>
          </a:prstGeom>
        </p:spPr>
      </p:pic>
      <p:sp>
        <p:nvSpPr>
          <p:cNvPr id="4" name="Shape 1"/>
          <p:cNvSpPr/>
          <p:nvPr/>
        </p:nvSpPr>
        <p:spPr>
          <a:xfrm>
            <a:off x="380990" y="1473163"/>
            <a:ext cx="3962301" cy="2438339"/>
          </a:xfrm>
          <a:prstGeom prst="rect">
            <a:avLst/>
          </a:prstGeom>
          <a:noFill/>
          <a:ln/>
        </p:spPr>
      </p:sp>
      <p:sp>
        <p:nvSpPr>
          <p:cNvPr id="5" name="Text 2"/>
          <p:cNvSpPr/>
          <p:nvPr/>
        </p:nvSpPr>
        <p:spPr>
          <a:xfrm>
            <a:off x="634984"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Definition of Phishing
</a:t>
            </a:r>
            <a:endParaRPr lang="en-US" sz="1300" dirty="0"/>
          </a:p>
        </p:txBody>
      </p:sp>
      <p:sp>
        <p:nvSpPr>
          <p:cNvPr id="6" name="Text 3"/>
          <p:cNvSpPr/>
          <p:nvPr/>
        </p:nvSpPr>
        <p:spPr>
          <a:xfrm>
            <a:off x="634984"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Phishing is a cyber attack that uses deceptive emails to trick individuals into revealing sensitive information, such as passwords and credit card numbers, often leading to severe security breaches.
</a:t>
            </a:r>
            <a:endParaRPr lang="en-US" sz="1300" dirty="0"/>
          </a:p>
        </p:txBody>
      </p:sp>
      <p:sp>
        <p:nvSpPr>
          <p:cNvPr id="7" name="Shape 4"/>
          <p:cNvSpPr/>
          <p:nvPr/>
        </p:nvSpPr>
        <p:spPr>
          <a:xfrm>
            <a:off x="4546486" y="1473163"/>
            <a:ext cx="3962301" cy="2438339"/>
          </a:xfrm>
          <a:prstGeom prst="rect">
            <a:avLst/>
          </a:prstGeom>
          <a:noFill/>
          <a:ln/>
        </p:spPr>
      </p:sp>
      <p:sp>
        <p:nvSpPr>
          <p:cNvPr id="8" name="Text 5"/>
          <p:cNvSpPr/>
          <p:nvPr/>
        </p:nvSpPr>
        <p:spPr>
          <a:xfrm>
            <a:off x="4800480"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Impersonation Tactics
</a:t>
            </a:r>
            <a:endParaRPr lang="en-US" sz="1300" dirty="0"/>
          </a:p>
        </p:txBody>
      </p:sp>
      <p:sp>
        <p:nvSpPr>
          <p:cNvPr id="9" name="Text 6"/>
          <p:cNvSpPr/>
          <p:nvPr/>
        </p:nvSpPr>
        <p:spPr>
          <a:xfrm>
            <a:off x="4800480"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Attackers frequently impersonate trusted organizations, utilizing familiar logos and language to create a sense of legitimacy, which increases the likelihood of victims falling for the scam.
</a:t>
            </a:r>
            <a:endParaRPr lang="en-US" sz="1300" dirty="0"/>
          </a:p>
        </p:txBody>
      </p:sp>
      <p:sp>
        <p:nvSpPr>
          <p:cNvPr id="10" name="Shape 7"/>
          <p:cNvSpPr/>
          <p:nvPr/>
        </p:nvSpPr>
        <p:spPr>
          <a:xfrm>
            <a:off x="380990" y="4419490"/>
            <a:ext cx="8140496" cy="724010"/>
          </a:xfrm>
          <a:prstGeom prst="rect">
            <a:avLst/>
          </a:prstGeom>
          <a:noFill/>
          <a:ln/>
        </p:spPr>
      </p:sp>
      <p:sp>
        <p:nvSpPr>
          <p:cNvPr id="11" name="Text 8"/>
          <p:cNvSpPr/>
          <p:nvPr/>
        </p:nvSpPr>
        <p:spPr>
          <a:xfrm>
            <a:off x="634984" y="4648084"/>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Consequences of Phishing
</a:t>
            </a:r>
            <a:endParaRPr lang="en-US" sz="1300" dirty="0"/>
          </a:p>
        </p:txBody>
      </p:sp>
      <p:sp>
        <p:nvSpPr>
          <p:cNvPr id="12" name="Text 9"/>
          <p:cNvSpPr/>
          <p:nvPr/>
        </p:nvSpPr>
        <p:spPr>
          <a:xfrm>
            <a:off x="634984" y="5054474"/>
            <a:ext cx="7632509" cy="115567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Successful phishing attacks can result in significant financial losses, data breaches affecting millions, and long-lasting reputational damage to organizations, highlighting the need for robust cybersecurity measures.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8140496" cy="533387"/>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Types of Phishing Attacks
</a:t>
            </a:r>
            <a:endParaRPr lang="en-US" sz="2900" dirty="0"/>
          </a:p>
        </p:txBody>
      </p:sp>
      <p:pic>
        <p:nvPicPr>
          <p:cNvPr id="3" name="Image 0" descr="preencoded.png"/>
          <p:cNvPicPr>
            <a:picLocks noChangeAspect="1"/>
          </p:cNvPicPr>
          <p:nvPr/>
        </p:nvPicPr>
        <p:blipFill>
          <a:blip r:embed="rId3"/>
          <a:srcRect/>
          <a:stretch/>
        </p:blipFill>
        <p:spPr>
          <a:xfrm>
            <a:off x="8775481" y="0"/>
            <a:ext cx="3370495" cy="6812280"/>
          </a:xfrm>
          <a:prstGeom prst="rect">
            <a:avLst/>
          </a:prstGeom>
        </p:spPr>
      </p:pic>
      <p:sp>
        <p:nvSpPr>
          <p:cNvPr id="4" name="Shape 1"/>
          <p:cNvSpPr/>
          <p:nvPr/>
        </p:nvSpPr>
        <p:spPr>
          <a:xfrm>
            <a:off x="380990" y="1473163"/>
            <a:ext cx="3962301" cy="2438339"/>
          </a:xfrm>
          <a:prstGeom prst="rect">
            <a:avLst/>
          </a:prstGeom>
          <a:noFill/>
          <a:ln/>
        </p:spPr>
      </p:sp>
      <p:sp>
        <p:nvSpPr>
          <p:cNvPr id="5" name="Text 2"/>
          <p:cNvSpPr/>
          <p:nvPr/>
        </p:nvSpPr>
        <p:spPr>
          <a:xfrm>
            <a:off x="634984"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Spear Phishing
</a:t>
            </a:r>
            <a:endParaRPr lang="en-US" sz="1300" dirty="0"/>
          </a:p>
        </p:txBody>
      </p:sp>
      <p:sp>
        <p:nvSpPr>
          <p:cNvPr id="6" name="Text 3"/>
          <p:cNvSpPr/>
          <p:nvPr/>
        </p:nvSpPr>
        <p:spPr>
          <a:xfrm>
            <a:off x="634984"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Spear phishing involves targeted attacks on specific individuals or organizations, often using personal information to increase credibility. Reports indicate a 70% success rate in these tailored attacks.
</a:t>
            </a:r>
            <a:endParaRPr lang="en-US" sz="1300" dirty="0"/>
          </a:p>
        </p:txBody>
      </p:sp>
      <p:sp>
        <p:nvSpPr>
          <p:cNvPr id="7" name="Shape 4"/>
          <p:cNvSpPr/>
          <p:nvPr/>
        </p:nvSpPr>
        <p:spPr>
          <a:xfrm>
            <a:off x="4546486" y="1473163"/>
            <a:ext cx="3962301" cy="2743131"/>
          </a:xfrm>
          <a:prstGeom prst="rect">
            <a:avLst/>
          </a:prstGeom>
          <a:noFill/>
          <a:ln/>
        </p:spPr>
      </p:sp>
      <p:sp>
        <p:nvSpPr>
          <p:cNvPr id="8" name="Text 5"/>
          <p:cNvSpPr/>
          <p:nvPr/>
        </p:nvSpPr>
        <p:spPr>
          <a:xfrm>
            <a:off x="4800480"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Whaling
</a:t>
            </a:r>
            <a:endParaRPr lang="en-US" sz="1300" dirty="0"/>
          </a:p>
        </p:txBody>
      </p:sp>
      <p:sp>
        <p:nvSpPr>
          <p:cNvPr id="9" name="Text 6"/>
          <p:cNvSpPr/>
          <p:nvPr/>
        </p:nvSpPr>
        <p:spPr>
          <a:xfrm>
            <a:off x="4800480" y="2108147"/>
            <a:ext cx="3454314" cy="1879553"/>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Whaling targets high-profile individuals, such as executives, leveraging their authority. These attacks often involve impersonating trusted sources, with a 30% higher likelihood of financial loss compared to regular phishing.
</a:t>
            </a:r>
            <a:endParaRPr lang="en-US" sz="1300" dirty="0"/>
          </a:p>
        </p:txBody>
      </p:sp>
      <p:sp>
        <p:nvSpPr>
          <p:cNvPr id="10" name="Shape 7"/>
          <p:cNvSpPr/>
          <p:nvPr/>
        </p:nvSpPr>
        <p:spPr>
          <a:xfrm>
            <a:off x="380990" y="4724282"/>
            <a:ext cx="8140496" cy="419218"/>
          </a:xfrm>
          <a:prstGeom prst="rect">
            <a:avLst/>
          </a:prstGeom>
          <a:noFill/>
          <a:ln/>
        </p:spPr>
      </p:sp>
      <p:sp>
        <p:nvSpPr>
          <p:cNvPr id="11" name="Text 8"/>
          <p:cNvSpPr/>
          <p:nvPr/>
        </p:nvSpPr>
        <p:spPr>
          <a:xfrm>
            <a:off x="634984" y="4952876"/>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Clone Phishing
</a:t>
            </a:r>
            <a:endParaRPr lang="en-US" sz="1300" dirty="0"/>
          </a:p>
        </p:txBody>
      </p:sp>
      <p:sp>
        <p:nvSpPr>
          <p:cNvPr id="12" name="Text 9"/>
          <p:cNvSpPr/>
          <p:nvPr/>
        </p:nvSpPr>
        <p:spPr>
          <a:xfrm>
            <a:off x="634984" y="5359266"/>
            <a:ext cx="7632509" cy="965176"/>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Clone phishing replicates legitimate emails, replacing links with malicious ones. This technique exploits trust, with studies showing a 50% click-through rate on cloned emails from known contacts.
</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1015975"/>
            <a:ext cx="10667733" cy="660383"/>
          </a:xfrm>
          <a:prstGeom prst="rect">
            <a:avLst/>
          </a:prstGeom>
          <a:noFill/>
          <a:ln/>
        </p:spPr>
        <p:txBody>
          <a:bodyPr wrap="square" lIns="0" tIns="0" rIns="0" bIns="0" rtlCol="0" anchor="t"/>
          <a:lstStyle/>
          <a:p>
            <a:pPr marL="0" indent="0" algn="l">
              <a:lnSpc>
                <a:spcPct val="120000"/>
              </a:lnSpc>
              <a:buNone/>
            </a:pPr>
            <a:r>
              <a:rPr lang="en-US" sz="2900" b="1" dirty="0">
                <a:solidFill>
                  <a:srgbClr val="00FFFF"/>
                </a:solidFill>
                <a:latin typeface="Calibri" pitchFamily="34" charset="0"/>
                <a:ea typeface="Calibri" pitchFamily="34" charset="-122"/>
                <a:cs typeface="Calibri" pitchFamily="34" charset="-120"/>
              </a:rPr>
              <a:t>Phishing Attack Lifecycle
</a:t>
            </a:r>
            <a:endParaRPr lang="en-US" sz="2900" dirty="0"/>
          </a:p>
        </p:txBody>
      </p:sp>
      <p:pic>
        <p:nvPicPr>
          <p:cNvPr id="3" name="Image 0" descr="preencoded.png"/>
          <p:cNvPicPr>
            <a:picLocks noChangeAspect="1"/>
          </p:cNvPicPr>
          <p:nvPr/>
        </p:nvPicPr>
        <p:blipFill>
          <a:blip r:embed="rId3"/>
          <a:srcRect/>
          <a:stretch/>
        </p:blipFill>
        <p:spPr>
          <a:xfrm>
            <a:off x="1295368" y="2379921"/>
            <a:ext cx="9600960" cy="35203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8140496" cy="533387"/>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Identifying Phishing Emails
</a:t>
            </a:r>
            <a:endParaRPr lang="en-US" sz="2900" dirty="0"/>
          </a:p>
        </p:txBody>
      </p:sp>
      <p:pic>
        <p:nvPicPr>
          <p:cNvPr id="3" name="Image 0" descr="preencoded.png"/>
          <p:cNvPicPr>
            <a:picLocks noChangeAspect="1"/>
          </p:cNvPicPr>
          <p:nvPr/>
        </p:nvPicPr>
        <p:blipFill>
          <a:blip r:embed="rId3"/>
          <a:srcRect/>
          <a:stretch/>
        </p:blipFill>
        <p:spPr>
          <a:xfrm>
            <a:off x="8775481" y="0"/>
            <a:ext cx="3370495" cy="6812280"/>
          </a:xfrm>
          <a:prstGeom prst="rect">
            <a:avLst/>
          </a:prstGeom>
        </p:spPr>
      </p:pic>
      <p:sp>
        <p:nvSpPr>
          <p:cNvPr id="4" name="Shape 1"/>
          <p:cNvSpPr/>
          <p:nvPr/>
        </p:nvSpPr>
        <p:spPr>
          <a:xfrm>
            <a:off x="380990" y="1473163"/>
            <a:ext cx="3962301" cy="2438339"/>
          </a:xfrm>
          <a:prstGeom prst="rect">
            <a:avLst/>
          </a:prstGeom>
          <a:noFill/>
          <a:ln/>
        </p:spPr>
      </p:sp>
      <p:sp>
        <p:nvSpPr>
          <p:cNvPr id="5" name="Text 2"/>
          <p:cNvSpPr/>
          <p:nvPr/>
        </p:nvSpPr>
        <p:spPr>
          <a:xfrm>
            <a:off x="634984"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Generic Greetings and Grammar
</a:t>
            </a:r>
            <a:endParaRPr lang="en-US" sz="1300" dirty="0"/>
          </a:p>
        </p:txBody>
      </p:sp>
      <p:sp>
        <p:nvSpPr>
          <p:cNvPr id="6" name="Text 3"/>
          <p:cNvSpPr/>
          <p:nvPr/>
        </p:nvSpPr>
        <p:spPr>
          <a:xfrm>
            <a:off x="634984"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Phishing emails often use generic greetings like 'Dear Customer' and contain poor grammar. These indicators suggest a lack of personalization and professionalism, raising red flags for potential scams.
</a:t>
            </a:r>
            <a:endParaRPr lang="en-US" sz="1300" dirty="0"/>
          </a:p>
        </p:txBody>
      </p:sp>
      <p:sp>
        <p:nvSpPr>
          <p:cNvPr id="7" name="Shape 4"/>
          <p:cNvSpPr/>
          <p:nvPr/>
        </p:nvSpPr>
        <p:spPr>
          <a:xfrm>
            <a:off x="4546486" y="1473163"/>
            <a:ext cx="3962301" cy="2438339"/>
          </a:xfrm>
          <a:prstGeom prst="rect">
            <a:avLst/>
          </a:prstGeom>
          <a:noFill/>
          <a:ln/>
        </p:spPr>
      </p:sp>
      <p:sp>
        <p:nvSpPr>
          <p:cNvPr id="8" name="Text 5"/>
          <p:cNvSpPr/>
          <p:nvPr/>
        </p:nvSpPr>
        <p:spPr>
          <a:xfrm>
            <a:off x="4800480"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Mismatched URLs and Attachments
</a:t>
            </a:r>
            <a:endParaRPr lang="en-US" sz="1300" dirty="0"/>
          </a:p>
        </p:txBody>
      </p:sp>
      <p:sp>
        <p:nvSpPr>
          <p:cNvPr id="9" name="Text 6"/>
          <p:cNvSpPr/>
          <p:nvPr/>
        </p:nvSpPr>
        <p:spPr>
          <a:xfrm>
            <a:off x="4800480"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Always check URLs for discrepancies. Phishing attempts may use similar-looking domains. Additionally, be wary of unexpected attachments, which can harbor malware or lead to credential theft.
</a:t>
            </a:r>
            <a:endParaRPr lang="en-US" sz="1300" dirty="0"/>
          </a:p>
        </p:txBody>
      </p:sp>
      <p:sp>
        <p:nvSpPr>
          <p:cNvPr id="10" name="Shape 7"/>
          <p:cNvSpPr/>
          <p:nvPr/>
        </p:nvSpPr>
        <p:spPr>
          <a:xfrm>
            <a:off x="380990" y="4419490"/>
            <a:ext cx="8140496" cy="724010"/>
          </a:xfrm>
          <a:prstGeom prst="rect">
            <a:avLst/>
          </a:prstGeom>
          <a:noFill/>
          <a:ln/>
        </p:spPr>
      </p:sp>
      <p:sp>
        <p:nvSpPr>
          <p:cNvPr id="11" name="Text 8"/>
          <p:cNvSpPr/>
          <p:nvPr/>
        </p:nvSpPr>
        <p:spPr>
          <a:xfrm>
            <a:off x="634984" y="4648084"/>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Urgent Requests for Information
</a:t>
            </a:r>
            <a:endParaRPr lang="en-US" sz="1300" dirty="0"/>
          </a:p>
        </p:txBody>
      </p:sp>
      <p:sp>
        <p:nvSpPr>
          <p:cNvPr id="12" name="Text 9"/>
          <p:cNvSpPr/>
          <p:nvPr/>
        </p:nvSpPr>
        <p:spPr>
          <a:xfrm>
            <a:off x="634984" y="5054474"/>
            <a:ext cx="7632509" cy="115567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Phishing emails frequently create a sense of urgency, pressuring recipients to provide sensitive information quickly. Legitimate organizations rarely request sensitive data via email, especially under duress.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Phishing Email Examples
</a:t>
            </a:r>
            <a:endParaRPr lang="en-US" sz="2900" dirty="0"/>
          </a:p>
        </p:txBody>
      </p:sp>
      <p:sp>
        <p:nvSpPr>
          <p:cNvPr id="3" name="Shape 1"/>
          <p:cNvSpPr/>
          <p:nvPr/>
        </p:nvSpPr>
        <p:spPr>
          <a:xfrm>
            <a:off x="380990" y="1523962"/>
            <a:ext cx="3606710" cy="3619538"/>
          </a:xfrm>
          <a:prstGeom prst="rect">
            <a:avLst/>
          </a:prstGeom>
          <a:noFill/>
          <a:ln/>
        </p:spPr>
      </p:sp>
      <p:pic>
        <p:nvPicPr>
          <p:cNvPr id="4" name="Image 0" descr="preencoded.png"/>
          <p:cNvPicPr>
            <a:picLocks noChangeAspect="1"/>
          </p:cNvPicPr>
          <p:nvPr/>
        </p:nvPicPr>
        <p:blipFill>
          <a:blip r:embed="rId3"/>
          <a:srcRect/>
          <a:stretch/>
        </p:blipFill>
        <p:spPr>
          <a:xfrm>
            <a:off x="380990" y="1523962"/>
            <a:ext cx="3606710" cy="2336742"/>
          </a:xfrm>
          <a:prstGeom prst="rect">
            <a:avLst/>
          </a:prstGeom>
        </p:spPr>
      </p:pic>
      <p:sp>
        <p:nvSpPr>
          <p:cNvPr id="5" name="Text 2"/>
          <p:cNvSpPr/>
          <p:nvPr/>
        </p:nvSpPr>
        <p:spPr>
          <a:xfrm>
            <a:off x="380990"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Fake Bank Notification
</a:t>
            </a:r>
            <a:endParaRPr lang="en-US" sz="1300" dirty="0"/>
          </a:p>
        </p:txBody>
      </p:sp>
      <p:sp>
        <p:nvSpPr>
          <p:cNvPr id="6" name="Text 3"/>
          <p:cNvSpPr/>
          <p:nvPr/>
        </p:nvSpPr>
        <p:spPr>
          <a:xfrm>
            <a:off x="380990"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An email mimicking a bank notification prompts users to click a malicious link. This link leads to a counterfeit site designed to harvest login credentials, often using urgency to manipulate victims.
</a:t>
            </a:r>
            <a:endParaRPr lang="en-US" sz="1300" dirty="0"/>
          </a:p>
        </p:txBody>
      </p:sp>
      <p:sp>
        <p:nvSpPr>
          <p:cNvPr id="7" name="Shape 4"/>
          <p:cNvSpPr/>
          <p:nvPr/>
        </p:nvSpPr>
        <p:spPr>
          <a:xfrm>
            <a:off x="4292493" y="1523962"/>
            <a:ext cx="3606710" cy="3619538"/>
          </a:xfrm>
          <a:prstGeom prst="rect">
            <a:avLst/>
          </a:prstGeom>
          <a:noFill/>
          <a:ln/>
        </p:spPr>
      </p:sp>
      <p:pic>
        <p:nvPicPr>
          <p:cNvPr id="8" name="Image 1" descr="preencoded.png"/>
          <p:cNvPicPr>
            <a:picLocks noChangeAspect="1"/>
          </p:cNvPicPr>
          <p:nvPr/>
        </p:nvPicPr>
        <p:blipFill>
          <a:blip r:embed="rId4"/>
          <a:srcRect/>
          <a:stretch/>
        </p:blipFill>
        <p:spPr>
          <a:xfrm>
            <a:off x="4292493" y="1523962"/>
            <a:ext cx="3606710" cy="2336742"/>
          </a:xfrm>
          <a:prstGeom prst="rect">
            <a:avLst/>
          </a:prstGeom>
        </p:spPr>
      </p:pic>
      <p:sp>
        <p:nvSpPr>
          <p:cNvPr id="9" name="Text 5"/>
          <p:cNvSpPr/>
          <p:nvPr/>
        </p:nvSpPr>
        <p:spPr>
          <a:xfrm>
            <a:off x="4292493"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Spoofed Colleague Email
</a:t>
            </a:r>
            <a:endParaRPr lang="en-US" sz="1300" dirty="0"/>
          </a:p>
        </p:txBody>
      </p:sp>
      <p:sp>
        <p:nvSpPr>
          <p:cNvPr id="10" name="Text 6"/>
          <p:cNvSpPr/>
          <p:nvPr/>
        </p:nvSpPr>
        <p:spPr>
          <a:xfrm>
            <a:off x="4292493"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 phishing attempt may involve an email appearing to be from a trusted colleague, requesting sensitive data. Attackers exploit familiarity to bypass skepticism, increasing the likelihood of data compromise.
</a:t>
            </a:r>
            <a:endParaRPr lang="en-US" sz="1300" dirty="0"/>
          </a:p>
        </p:txBody>
      </p:sp>
      <p:sp>
        <p:nvSpPr>
          <p:cNvPr id="11" name="Shape 7"/>
          <p:cNvSpPr/>
          <p:nvPr/>
        </p:nvSpPr>
        <p:spPr>
          <a:xfrm>
            <a:off x="8203995" y="1523962"/>
            <a:ext cx="940005" cy="3619538"/>
          </a:xfrm>
          <a:prstGeom prst="rect">
            <a:avLst/>
          </a:prstGeom>
          <a:noFill/>
          <a:ln/>
        </p:spPr>
      </p:sp>
      <p:pic>
        <p:nvPicPr>
          <p:cNvPr id="12" name="Image 2" descr="preencoded.png"/>
          <p:cNvPicPr>
            <a:picLocks noChangeAspect="1"/>
          </p:cNvPicPr>
          <p:nvPr/>
        </p:nvPicPr>
        <p:blipFill>
          <a:blip r:embed="rId5"/>
          <a:srcRect/>
          <a:stretch/>
        </p:blipFill>
        <p:spPr>
          <a:xfrm>
            <a:off x="8203995" y="1523962"/>
            <a:ext cx="3606710" cy="2336742"/>
          </a:xfrm>
          <a:prstGeom prst="rect">
            <a:avLst/>
          </a:prstGeom>
        </p:spPr>
      </p:pic>
      <p:sp>
        <p:nvSpPr>
          <p:cNvPr id="13" name="Text 8"/>
          <p:cNvSpPr/>
          <p:nvPr/>
        </p:nvSpPr>
        <p:spPr>
          <a:xfrm>
            <a:off x="8203995" y="4165496"/>
            <a:ext cx="3606710" cy="457189"/>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b="1" dirty="0">
                <a:solidFill>
                  <a:srgbClr val="00FFFF"/>
                </a:solidFill>
                <a:latin typeface="Calibri" pitchFamily="34" charset="0"/>
                <a:ea typeface="Calibri" pitchFamily="34" charset="-122"/>
                <a:cs typeface="Calibri" pitchFamily="34" charset="-120"/>
              </a:rPr>
              <a:t>Urgent IT Request
</a:t>
            </a:r>
            <a:endParaRPr lang="en-US" sz="1300" dirty="0"/>
          </a:p>
        </p:txBody>
      </p:sp>
      <p:sp>
        <p:nvSpPr>
          <p:cNvPr id="14" name="Text 9"/>
          <p:cNvSpPr/>
          <p:nvPr/>
        </p:nvSpPr>
        <p:spPr>
          <a:xfrm>
            <a:off x="8203995" y="4825879"/>
            <a:ext cx="3606710" cy="1523962"/>
          </a:xfrm>
          <a:prstGeom prst="rect">
            <a:avLst/>
          </a:prstGeom>
          <a:solidFill>
            <a:srgbClr val="FFFFFF">
              <a:alpha val="0"/>
            </a:srgbClr>
          </a:solid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Phishing emails may impersonate IT departments, demanding immediate password verification. These messages often create a false sense of urgency, compelling users to act without verifying the request's authenticity.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Fake Websites and Their Risks
</a:t>
            </a:r>
            <a:endParaRPr lang="en-US" sz="2900" dirty="0"/>
          </a:p>
        </p:txBody>
      </p:sp>
      <p:sp>
        <p:nvSpPr>
          <p:cNvPr id="3" name="Shape 1"/>
          <p:cNvSpPr/>
          <p:nvPr/>
        </p:nvSpPr>
        <p:spPr>
          <a:xfrm>
            <a:off x="761981" y="1727157"/>
            <a:ext cx="152396" cy="152396"/>
          </a:xfrm>
          <a:prstGeom prst="ellipse">
            <a:avLst/>
          </a:prstGeom>
          <a:solidFill>
            <a:srgbClr val="00FFFF"/>
          </a:solidFill>
          <a:ln/>
        </p:spPr>
      </p:sp>
      <p:sp>
        <p:nvSpPr>
          <p:cNvPr id="4" name="Text 2"/>
          <p:cNvSpPr/>
          <p:nvPr/>
        </p:nvSpPr>
        <p:spPr>
          <a:xfrm>
            <a:off x="1041374" y="1777956"/>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Mimicking Legitimate Sites
</a:t>
            </a:r>
            <a:endParaRPr lang="en-US" sz="1400" dirty="0"/>
          </a:p>
        </p:txBody>
      </p:sp>
      <p:sp>
        <p:nvSpPr>
          <p:cNvPr id="5" name="Text 3"/>
          <p:cNvSpPr/>
          <p:nvPr/>
        </p:nvSpPr>
        <p:spPr>
          <a:xfrm>
            <a:off x="1041374" y="2539937"/>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Phishing websites often replicate the appearance of legitimate sites, using similar URLs and branding to deceive users into entering sensitive information, leading to credential theft.
</a:t>
            </a:r>
            <a:endParaRPr lang="en-US" sz="1300" dirty="0"/>
          </a:p>
        </p:txBody>
      </p:sp>
      <p:sp>
        <p:nvSpPr>
          <p:cNvPr id="6" name="Shape 4"/>
          <p:cNvSpPr/>
          <p:nvPr/>
        </p:nvSpPr>
        <p:spPr>
          <a:xfrm>
            <a:off x="5587860" y="1727157"/>
            <a:ext cx="152396" cy="152396"/>
          </a:xfrm>
          <a:prstGeom prst="ellipse">
            <a:avLst/>
          </a:prstGeom>
          <a:solidFill>
            <a:srgbClr val="00FFFF"/>
          </a:solidFill>
          <a:ln/>
        </p:spPr>
      </p:sp>
      <p:sp>
        <p:nvSpPr>
          <p:cNvPr id="7" name="Text 5"/>
          <p:cNvSpPr/>
          <p:nvPr/>
        </p:nvSpPr>
        <p:spPr>
          <a:xfrm>
            <a:off x="5867253" y="1777956"/>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Security Indicators
</a:t>
            </a:r>
            <a:endParaRPr lang="en-US" sz="1400" dirty="0"/>
          </a:p>
        </p:txBody>
      </p:sp>
      <p:sp>
        <p:nvSpPr>
          <p:cNvPr id="8" name="Text 6"/>
          <p:cNvSpPr/>
          <p:nvPr/>
        </p:nvSpPr>
        <p:spPr>
          <a:xfrm>
            <a:off x="5867253" y="2539937"/>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Always check for HTTPS and valid SSL certificates. Legitimate sites will display a padlock icon in the address bar, indicating a secure connection and protecting user data.
</a:t>
            </a:r>
            <a:endParaRPr lang="en-US" sz="1300" dirty="0"/>
          </a:p>
        </p:txBody>
      </p:sp>
      <p:sp>
        <p:nvSpPr>
          <p:cNvPr id="9" name="Shape 7"/>
          <p:cNvSpPr/>
          <p:nvPr/>
        </p:nvSpPr>
        <p:spPr>
          <a:xfrm>
            <a:off x="761981" y="4013100"/>
            <a:ext cx="152396" cy="152396"/>
          </a:xfrm>
          <a:prstGeom prst="ellipse">
            <a:avLst/>
          </a:prstGeom>
          <a:solidFill>
            <a:srgbClr val="00FFFF"/>
          </a:solidFill>
          <a:ln/>
        </p:spPr>
      </p:sp>
      <p:sp>
        <p:nvSpPr>
          <p:cNvPr id="10" name="Text 8"/>
          <p:cNvSpPr/>
          <p:nvPr/>
        </p:nvSpPr>
        <p:spPr>
          <a:xfrm>
            <a:off x="1041374" y="4063898"/>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Browser Security Features
</a:t>
            </a:r>
            <a:endParaRPr lang="en-US" sz="1400" dirty="0"/>
          </a:p>
        </p:txBody>
      </p:sp>
      <p:sp>
        <p:nvSpPr>
          <p:cNvPr id="11" name="Text 9"/>
          <p:cNvSpPr/>
          <p:nvPr/>
        </p:nvSpPr>
        <p:spPr>
          <a:xfrm>
            <a:off x="1041374" y="4825879"/>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Utilize built-in browser security features, such as warnings for suspicious sites. Modern browsers can detect and alert users about potential phishing attempts and fraudulent websites.
</a:t>
            </a:r>
            <a:endParaRPr lang="en-US" sz="1300" dirty="0"/>
          </a:p>
        </p:txBody>
      </p:sp>
      <p:sp>
        <p:nvSpPr>
          <p:cNvPr id="12" name="Shape 10"/>
          <p:cNvSpPr/>
          <p:nvPr/>
        </p:nvSpPr>
        <p:spPr>
          <a:xfrm>
            <a:off x="5587860" y="4013100"/>
            <a:ext cx="152396" cy="152396"/>
          </a:xfrm>
          <a:prstGeom prst="ellipse">
            <a:avLst/>
          </a:prstGeom>
          <a:solidFill>
            <a:srgbClr val="00FFFF"/>
          </a:solidFill>
          <a:ln/>
        </p:spPr>
      </p:sp>
      <p:sp>
        <p:nvSpPr>
          <p:cNvPr id="13" name="Text 11"/>
          <p:cNvSpPr/>
          <p:nvPr/>
        </p:nvSpPr>
        <p:spPr>
          <a:xfrm>
            <a:off x="5867253" y="4063898"/>
            <a:ext cx="4038499" cy="634984"/>
          </a:xfrm>
          <a:prstGeom prst="rect">
            <a:avLst/>
          </a:prstGeom>
          <a:noFill/>
          <a:ln/>
        </p:spPr>
        <p:txBody>
          <a:bodyPr wrap="square" lIns="0" tIns="0" rIns="0" bIns="0" rtlCol="0" anchor="t"/>
          <a:lstStyle/>
          <a:p>
            <a:pPr marL="0" indent="0" algn="l">
              <a:lnSpc>
                <a:spcPct val="130000"/>
              </a:lnSpc>
              <a:buNone/>
            </a:pPr>
            <a:r>
              <a:rPr lang="en-US" sz="1400" b="1" dirty="0">
                <a:solidFill>
                  <a:srgbClr val="00FFFF"/>
                </a:solidFill>
                <a:latin typeface="Calibri" pitchFamily="34" charset="0"/>
                <a:ea typeface="Calibri" pitchFamily="34" charset="-122"/>
                <a:cs typeface="Calibri" pitchFamily="34" charset="-120"/>
              </a:rPr>
              <a:t>Reporting Suspicious Sites
</a:t>
            </a:r>
            <a:endParaRPr lang="en-US" sz="1400" dirty="0"/>
          </a:p>
        </p:txBody>
      </p:sp>
      <p:sp>
        <p:nvSpPr>
          <p:cNvPr id="14" name="Text 12"/>
          <p:cNvSpPr/>
          <p:nvPr/>
        </p:nvSpPr>
        <p:spPr>
          <a:xfrm>
            <a:off x="5867253" y="4825879"/>
            <a:ext cx="4038499" cy="1396965"/>
          </a:xfrm>
          <a:prstGeom prst="rect">
            <a:avLst/>
          </a:prstGeom>
          <a:noFill/>
          <a:ln/>
        </p:spPr>
        <p:txBody>
          <a:bodyPr wrap="square" lIns="0" tIns="0" rIns="0" bIns="0" rtlCol="0" anchor="t"/>
          <a:lstStyle/>
          <a:p>
            <a:pPr marL="0" indent="0" algn="l">
              <a:lnSpc>
                <a:spcPct val="130000"/>
              </a:lnSpc>
              <a:buNone/>
            </a:pPr>
            <a:r>
              <a:rPr lang="en-US" sz="1300" dirty="0">
                <a:solidFill>
                  <a:srgbClr val="FFFFFF"/>
                </a:solidFill>
                <a:latin typeface="Calibri" pitchFamily="34" charset="0"/>
                <a:ea typeface="Calibri" pitchFamily="34" charset="-122"/>
                <a:cs typeface="Calibri" pitchFamily="34" charset="-120"/>
              </a:rPr>
              <a:t>Encourage reporting of suspicious websites to IT security teams. Prompt reporting can help mitigate risks and protect the organization from potential phishing attacks.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8140496" cy="533387"/>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Social Engineering Techniques
</a:t>
            </a:r>
            <a:endParaRPr lang="en-US" sz="2900" dirty="0"/>
          </a:p>
        </p:txBody>
      </p:sp>
      <p:pic>
        <p:nvPicPr>
          <p:cNvPr id="3" name="Image 0" descr="preencoded.png"/>
          <p:cNvPicPr>
            <a:picLocks noChangeAspect="1"/>
          </p:cNvPicPr>
          <p:nvPr/>
        </p:nvPicPr>
        <p:blipFill>
          <a:blip r:embed="rId3"/>
          <a:srcRect/>
          <a:stretch/>
        </p:blipFill>
        <p:spPr>
          <a:xfrm>
            <a:off x="8775481" y="0"/>
            <a:ext cx="3370495" cy="6812280"/>
          </a:xfrm>
          <a:prstGeom prst="rect">
            <a:avLst/>
          </a:prstGeom>
        </p:spPr>
      </p:pic>
      <p:sp>
        <p:nvSpPr>
          <p:cNvPr id="4" name="Shape 1"/>
          <p:cNvSpPr/>
          <p:nvPr/>
        </p:nvSpPr>
        <p:spPr>
          <a:xfrm>
            <a:off x="380990" y="1473163"/>
            <a:ext cx="3962301" cy="2438339"/>
          </a:xfrm>
          <a:prstGeom prst="rect">
            <a:avLst/>
          </a:prstGeom>
          <a:noFill/>
          <a:ln/>
        </p:spPr>
      </p:sp>
      <p:sp>
        <p:nvSpPr>
          <p:cNvPr id="5" name="Text 2"/>
          <p:cNvSpPr/>
          <p:nvPr/>
        </p:nvSpPr>
        <p:spPr>
          <a:xfrm>
            <a:off x="634984"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Exploiting Human Psychology
</a:t>
            </a:r>
            <a:endParaRPr lang="en-US" sz="1300" dirty="0"/>
          </a:p>
        </p:txBody>
      </p:sp>
      <p:sp>
        <p:nvSpPr>
          <p:cNvPr id="6" name="Text 3"/>
          <p:cNvSpPr/>
          <p:nvPr/>
        </p:nvSpPr>
        <p:spPr>
          <a:xfrm>
            <a:off x="634984"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Attackers leverage cognitive biases, such as trust and compliance, to manipulate victims into divulging sensitive information, making social engineering a potent complement to phishing attacks.
</a:t>
            </a:r>
            <a:endParaRPr lang="en-US" sz="1300" dirty="0"/>
          </a:p>
        </p:txBody>
      </p:sp>
      <p:sp>
        <p:nvSpPr>
          <p:cNvPr id="7" name="Shape 4"/>
          <p:cNvSpPr/>
          <p:nvPr/>
        </p:nvSpPr>
        <p:spPr>
          <a:xfrm>
            <a:off x="4546486" y="1473163"/>
            <a:ext cx="3962301" cy="2438339"/>
          </a:xfrm>
          <a:prstGeom prst="rect">
            <a:avLst/>
          </a:prstGeom>
          <a:noFill/>
          <a:ln/>
        </p:spPr>
      </p:sp>
      <p:sp>
        <p:nvSpPr>
          <p:cNvPr id="8" name="Text 5"/>
          <p:cNvSpPr/>
          <p:nvPr/>
        </p:nvSpPr>
        <p:spPr>
          <a:xfrm>
            <a:off x="4800480"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Common Manipulation Tactics
</a:t>
            </a:r>
            <a:endParaRPr lang="en-US" sz="1300" dirty="0"/>
          </a:p>
        </p:txBody>
      </p:sp>
      <p:sp>
        <p:nvSpPr>
          <p:cNvPr id="9" name="Text 6"/>
          <p:cNvSpPr/>
          <p:nvPr/>
        </p:nvSpPr>
        <p:spPr>
          <a:xfrm>
            <a:off x="4800480"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Urgency, fear, and authority are frequently used tactics. For instance, attackers may create a false sense of urgency to prompt immediate action, bypassing critical thinking.
</a:t>
            </a:r>
            <a:endParaRPr lang="en-US" sz="1300" dirty="0"/>
          </a:p>
        </p:txBody>
      </p:sp>
      <p:sp>
        <p:nvSpPr>
          <p:cNvPr id="10" name="Shape 7"/>
          <p:cNvSpPr/>
          <p:nvPr/>
        </p:nvSpPr>
        <p:spPr>
          <a:xfrm>
            <a:off x="380990" y="4419490"/>
            <a:ext cx="8140496" cy="724010"/>
          </a:xfrm>
          <a:prstGeom prst="rect">
            <a:avLst/>
          </a:prstGeom>
          <a:noFill/>
          <a:ln/>
        </p:spPr>
      </p:sp>
      <p:sp>
        <p:nvSpPr>
          <p:cNvPr id="11" name="Text 8"/>
          <p:cNvSpPr/>
          <p:nvPr/>
        </p:nvSpPr>
        <p:spPr>
          <a:xfrm>
            <a:off x="634984" y="4648084"/>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Importance of Employee Training
</a:t>
            </a:r>
            <a:endParaRPr lang="en-US" sz="1300" dirty="0"/>
          </a:p>
        </p:txBody>
      </p:sp>
      <p:sp>
        <p:nvSpPr>
          <p:cNvPr id="12" name="Text 9"/>
          <p:cNvSpPr/>
          <p:nvPr/>
        </p:nvSpPr>
        <p:spPr>
          <a:xfrm>
            <a:off x="634984" y="5054474"/>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Training employees to recognize social engineering tactics is crucial. Regular workshops can enhance awareness, reducing the likelihood of successful phishing attempts by up to 70%.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8140496" cy="533387"/>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Prevention Tips
</a:t>
            </a:r>
            <a:endParaRPr lang="en-US" sz="2900" dirty="0"/>
          </a:p>
        </p:txBody>
      </p:sp>
      <p:pic>
        <p:nvPicPr>
          <p:cNvPr id="3" name="Image 0" descr="preencoded.png"/>
          <p:cNvPicPr>
            <a:picLocks noChangeAspect="1"/>
          </p:cNvPicPr>
          <p:nvPr/>
        </p:nvPicPr>
        <p:blipFill>
          <a:blip r:embed="rId3"/>
          <a:srcRect/>
          <a:stretch/>
        </p:blipFill>
        <p:spPr>
          <a:xfrm>
            <a:off x="8775481" y="0"/>
            <a:ext cx="3370495" cy="6812280"/>
          </a:xfrm>
          <a:prstGeom prst="rect">
            <a:avLst/>
          </a:prstGeom>
        </p:spPr>
      </p:pic>
      <p:sp>
        <p:nvSpPr>
          <p:cNvPr id="4" name="Shape 1"/>
          <p:cNvSpPr/>
          <p:nvPr/>
        </p:nvSpPr>
        <p:spPr>
          <a:xfrm>
            <a:off x="380990" y="1473163"/>
            <a:ext cx="3962301" cy="2743131"/>
          </a:xfrm>
          <a:prstGeom prst="rect">
            <a:avLst/>
          </a:prstGeom>
          <a:noFill/>
          <a:ln/>
        </p:spPr>
      </p:sp>
      <p:sp>
        <p:nvSpPr>
          <p:cNvPr id="5" name="Text 2"/>
          <p:cNvSpPr/>
          <p:nvPr/>
        </p:nvSpPr>
        <p:spPr>
          <a:xfrm>
            <a:off x="634984"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Regular Software Updates
</a:t>
            </a:r>
            <a:endParaRPr lang="en-US" sz="1300" dirty="0"/>
          </a:p>
        </p:txBody>
      </p:sp>
      <p:sp>
        <p:nvSpPr>
          <p:cNvPr id="6" name="Text 3"/>
          <p:cNvSpPr/>
          <p:nvPr/>
        </p:nvSpPr>
        <p:spPr>
          <a:xfrm>
            <a:off x="634984" y="2108147"/>
            <a:ext cx="3454314" cy="1879553"/>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Ensure all software, including operating systems and applications, are updated regularly. Vulnerabilities in outdated software are prime targets for phishing attacks, with 60% of breaches exploiting known flaws.
</a:t>
            </a:r>
            <a:endParaRPr lang="en-US" sz="1300" dirty="0"/>
          </a:p>
        </p:txBody>
      </p:sp>
      <p:sp>
        <p:nvSpPr>
          <p:cNvPr id="7" name="Shape 4"/>
          <p:cNvSpPr/>
          <p:nvPr/>
        </p:nvSpPr>
        <p:spPr>
          <a:xfrm>
            <a:off x="4546486" y="1473163"/>
            <a:ext cx="3962301" cy="2438339"/>
          </a:xfrm>
          <a:prstGeom prst="rect">
            <a:avLst/>
          </a:prstGeom>
          <a:noFill/>
          <a:ln/>
        </p:spPr>
      </p:sp>
      <p:sp>
        <p:nvSpPr>
          <p:cNvPr id="8" name="Text 5"/>
          <p:cNvSpPr/>
          <p:nvPr/>
        </p:nvSpPr>
        <p:spPr>
          <a:xfrm>
            <a:off x="4800480"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Multi-Factor Authentication
</a:t>
            </a:r>
            <a:endParaRPr lang="en-US" sz="1300" dirty="0"/>
          </a:p>
        </p:txBody>
      </p:sp>
      <p:sp>
        <p:nvSpPr>
          <p:cNvPr id="9" name="Text 6"/>
          <p:cNvSpPr/>
          <p:nvPr/>
        </p:nvSpPr>
        <p:spPr>
          <a:xfrm>
            <a:off x="4800480"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Implement multi-factor authentication (MFA) for sensitive accounts. MFA can block 99.9% of automated attacks, significantly reducing the risk of unauthorized access from phishing attempts.
</a:t>
            </a:r>
            <a:endParaRPr lang="en-US" sz="1300" dirty="0"/>
          </a:p>
        </p:txBody>
      </p:sp>
      <p:sp>
        <p:nvSpPr>
          <p:cNvPr id="10" name="Shape 7"/>
          <p:cNvSpPr/>
          <p:nvPr/>
        </p:nvSpPr>
        <p:spPr>
          <a:xfrm>
            <a:off x="380990" y="4724282"/>
            <a:ext cx="8140496" cy="419218"/>
          </a:xfrm>
          <a:prstGeom prst="rect">
            <a:avLst/>
          </a:prstGeom>
          <a:noFill/>
          <a:ln/>
        </p:spPr>
      </p:sp>
      <p:sp>
        <p:nvSpPr>
          <p:cNvPr id="11" name="Text 8"/>
          <p:cNvSpPr/>
          <p:nvPr/>
        </p:nvSpPr>
        <p:spPr>
          <a:xfrm>
            <a:off x="634984" y="4952876"/>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Employee Education
</a:t>
            </a:r>
            <a:endParaRPr lang="en-US" sz="1300" dirty="0"/>
          </a:p>
        </p:txBody>
      </p:sp>
      <p:sp>
        <p:nvSpPr>
          <p:cNvPr id="12" name="Text 9"/>
          <p:cNvSpPr/>
          <p:nvPr/>
        </p:nvSpPr>
        <p:spPr>
          <a:xfrm>
            <a:off x="634984" y="5359266"/>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Conduct regular training sessions to educate employees on identifying phishing attempts. Studies show that informed employees can reduce phishing success rates by up to 70%.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1015975"/>
            <a:ext cx="10667733" cy="888978"/>
          </a:xfrm>
          <a:prstGeom prst="rect">
            <a:avLst/>
          </a:prstGeom>
          <a:noFill/>
          <a:ln/>
        </p:spPr>
        <p:txBody>
          <a:bodyPr wrap="square" lIns="0" tIns="0" rIns="0" bIns="0" rtlCol="0" anchor="t"/>
          <a:lstStyle/>
          <a:p>
            <a:pPr marL="0" indent="0" algn="l">
              <a:lnSpc>
                <a:spcPct val="130000"/>
              </a:lnSpc>
              <a:buNone/>
            </a:pPr>
            <a:r>
              <a:rPr lang="en-US" sz="2900" dirty="0">
                <a:solidFill>
                  <a:srgbClr val="00FFFF"/>
                </a:solidFill>
                <a:latin typeface="Calibri" pitchFamily="34" charset="0"/>
                <a:ea typeface="Calibri" pitchFamily="34" charset="-122"/>
                <a:cs typeface="Calibri" pitchFamily="34" charset="-120"/>
              </a:rPr>
              <a:t>The Alarming Impact of Phishing Attacks
</a:t>
            </a:r>
            <a:endParaRPr lang="en-US" sz="2900" dirty="0"/>
          </a:p>
        </p:txBody>
      </p:sp>
      <p:sp>
        <p:nvSpPr>
          <p:cNvPr id="3" name="Text 1"/>
          <p:cNvSpPr/>
          <p:nvPr/>
        </p:nvSpPr>
        <p:spPr>
          <a:xfrm>
            <a:off x="761981" y="1523962"/>
            <a:ext cx="3217253" cy="1015975"/>
          </a:xfrm>
          <a:prstGeom prst="rect">
            <a:avLst/>
          </a:prstGeom>
          <a:noFill/>
          <a:ln/>
        </p:spPr>
        <p:txBody>
          <a:bodyPr wrap="square" lIns="0" tIns="0" rIns="0" bIns="0" rtlCol="0" anchor="t"/>
          <a:lstStyle/>
          <a:p>
            <a:pPr marL="0" indent="0" algn="ctr">
              <a:lnSpc>
                <a:spcPct val="130000"/>
              </a:lnSpc>
              <a:buNone/>
            </a:pPr>
            <a:r>
              <a:rPr lang="en-US" sz="4300" b="1" dirty="0">
                <a:solidFill>
                  <a:srgbClr val="FFD700"/>
                </a:solidFill>
                <a:latin typeface="Calibri" pitchFamily="34" charset="0"/>
                <a:ea typeface="Calibri" pitchFamily="34" charset="-122"/>
                <a:cs typeface="Calibri" pitchFamily="34" charset="-120"/>
              </a:rPr>
              <a:t>$1.6M
</a:t>
            </a:r>
            <a:endParaRPr lang="en-US" sz="4300" dirty="0"/>
          </a:p>
        </p:txBody>
      </p:sp>
      <p:sp>
        <p:nvSpPr>
          <p:cNvPr id="4" name="Text 2"/>
          <p:cNvSpPr/>
          <p:nvPr/>
        </p:nvSpPr>
        <p:spPr>
          <a:xfrm>
            <a:off x="761981" y="2603435"/>
            <a:ext cx="3217253" cy="380990"/>
          </a:xfrm>
          <a:prstGeom prst="rect">
            <a:avLst/>
          </a:prstGeom>
          <a:noFill/>
          <a:ln/>
        </p:spPr>
        <p:txBody>
          <a:bodyPr wrap="square" lIns="0" tIns="0" rIns="0" bIns="0" rtlCol="0" anchor="t"/>
          <a:lstStyle/>
          <a:p>
            <a:pPr marL="0" indent="0" algn="ctr">
              <a:lnSpc>
                <a:spcPct val="130000"/>
              </a:lnSpc>
              <a:buNone/>
            </a:pPr>
            <a:r>
              <a:rPr lang="en-US" sz="1600" dirty="0">
                <a:solidFill>
                  <a:srgbClr val="00FFFF"/>
                </a:solidFill>
                <a:latin typeface="Calibri" pitchFamily="34" charset="0"/>
                <a:ea typeface="Calibri" pitchFamily="34" charset="-122"/>
                <a:cs typeface="Calibri" pitchFamily="34" charset="-120"/>
              </a:rPr>
              <a:t>Average Cost
</a:t>
            </a:r>
            <a:endParaRPr lang="en-US" sz="1600" dirty="0"/>
          </a:p>
        </p:txBody>
      </p:sp>
      <p:sp>
        <p:nvSpPr>
          <p:cNvPr id="5" name="Text 3"/>
          <p:cNvSpPr/>
          <p:nvPr/>
        </p:nvSpPr>
        <p:spPr>
          <a:xfrm>
            <a:off x="761981" y="3047924"/>
            <a:ext cx="3217253" cy="571486"/>
          </a:xfrm>
          <a:prstGeom prst="rect">
            <a:avLst/>
          </a:prstGeom>
          <a:noFill/>
          <a:ln/>
        </p:spPr>
        <p:txBody>
          <a:bodyPr wrap="square" lIns="0" tIns="0" rIns="0" bIns="0" rtlCol="0" anchor="t"/>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Phishing attacks cost businesses an average of $1.6 million each
</a:t>
            </a:r>
            <a:endParaRPr lang="en-US" sz="1300" dirty="0"/>
          </a:p>
        </p:txBody>
      </p:sp>
      <p:sp>
        <p:nvSpPr>
          <p:cNvPr id="6" name="Text 4"/>
          <p:cNvSpPr/>
          <p:nvPr/>
        </p:nvSpPr>
        <p:spPr>
          <a:xfrm>
            <a:off x="4487221" y="1523962"/>
            <a:ext cx="3217253" cy="1015975"/>
          </a:xfrm>
          <a:prstGeom prst="rect">
            <a:avLst/>
          </a:prstGeom>
          <a:noFill/>
          <a:ln/>
        </p:spPr>
        <p:txBody>
          <a:bodyPr wrap="square" lIns="0" tIns="0" rIns="0" bIns="0" rtlCol="0" anchor="t"/>
          <a:lstStyle/>
          <a:p>
            <a:pPr marL="0" indent="0" algn="ctr">
              <a:lnSpc>
                <a:spcPct val="130000"/>
              </a:lnSpc>
              <a:buNone/>
            </a:pPr>
            <a:r>
              <a:rPr lang="en-US" sz="4300" b="1" dirty="0">
                <a:solidFill>
                  <a:srgbClr val="FFD700"/>
                </a:solidFill>
                <a:latin typeface="Calibri" pitchFamily="34" charset="0"/>
                <a:ea typeface="Calibri" pitchFamily="34" charset="-122"/>
                <a:cs typeface="Calibri" pitchFamily="34" charset="-120"/>
              </a:rPr>
              <a:t>50%
</a:t>
            </a:r>
            <a:endParaRPr lang="en-US" sz="4300" dirty="0"/>
          </a:p>
        </p:txBody>
      </p:sp>
      <p:sp>
        <p:nvSpPr>
          <p:cNvPr id="7" name="Text 5"/>
          <p:cNvSpPr/>
          <p:nvPr/>
        </p:nvSpPr>
        <p:spPr>
          <a:xfrm>
            <a:off x="4487221" y="2603435"/>
            <a:ext cx="3217253" cy="380990"/>
          </a:xfrm>
          <a:prstGeom prst="rect">
            <a:avLst/>
          </a:prstGeom>
          <a:noFill/>
          <a:ln/>
        </p:spPr>
        <p:txBody>
          <a:bodyPr wrap="square" lIns="0" tIns="0" rIns="0" bIns="0" rtlCol="0" anchor="t"/>
          <a:lstStyle/>
          <a:p>
            <a:pPr marL="0" indent="0" algn="ctr">
              <a:lnSpc>
                <a:spcPct val="130000"/>
              </a:lnSpc>
              <a:buNone/>
            </a:pPr>
            <a:r>
              <a:rPr lang="en-US" sz="1600" dirty="0">
                <a:solidFill>
                  <a:srgbClr val="00FFFF"/>
                </a:solidFill>
                <a:latin typeface="Calibri" pitchFamily="34" charset="0"/>
                <a:ea typeface="Calibri" pitchFamily="34" charset="-122"/>
                <a:cs typeface="Calibri" pitchFamily="34" charset="-120"/>
              </a:rPr>
              <a:t>Increase in Attacks
</a:t>
            </a:r>
            <a:endParaRPr lang="en-US" sz="1600" dirty="0"/>
          </a:p>
        </p:txBody>
      </p:sp>
      <p:sp>
        <p:nvSpPr>
          <p:cNvPr id="8" name="Text 6"/>
          <p:cNvSpPr/>
          <p:nvPr/>
        </p:nvSpPr>
        <p:spPr>
          <a:xfrm>
            <a:off x="4487221" y="3047924"/>
            <a:ext cx="3217253" cy="571486"/>
          </a:xfrm>
          <a:prstGeom prst="rect">
            <a:avLst/>
          </a:prstGeom>
          <a:noFill/>
          <a:ln/>
        </p:spPr>
        <p:txBody>
          <a:bodyPr wrap="square" lIns="0" tIns="0" rIns="0" bIns="0" rtlCol="0" anchor="t"/>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Phishing attacks surged by 50% in 2022 compared to 2021
</a:t>
            </a:r>
            <a:endParaRPr lang="en-US" sz="1300" dirty="0"/>
          </a:p>
        </p:txBody>
      </p:sp>
      <p:sp>
        <p:nvSpPr>
          <p:cNvPr id="9" name="Text 7"/>
          <p:cNvSpPr/>
          <p:nvPr/>
        </p:nvSpPr>
        <p:spPr>
          <a:xfrm>
            <a:off x="8212461" y="1523962"/>
            <a:ext cx="3217253" cy="1015975"/>
          </a:xfrm>
          <a:prstGeom prst="rect">
            <a:avLst/>
          </a:prstGeom>
          <a:noFill/>
          <a:ln/>
        </p:spPr>
        <p:txBody>
          <a:bodyPr wrap="square" lIns="0" tIns="0" rIns="0" bIns="0" rtlCol="0" anchor="t"/>
          <a:lstStyle/>
          <a:p>
            <a:pPr marL="0" indent="0" algn="ctr">
              <a:lnSpc>
                <a:spcPct val="130000"/>
              </a:lnSpc>
              <a:buNone/>
            </a:pPr>
            <a:r>
              <a:rPr lang="en-US" sz="4300" b="1" dirty="0">
                <a:solidFill>
                  <a:srgbClr val="FFD700"/>
                </a:solidFill>
                <a:latin typeface="Calibri" pitchFamily="34" charset="0"/>
                <a:ea typeface="Calibri" pitchFamily="34" charset="-122"/>
                <a:cs typeface="Calibri" pitchFamily="34" charset="-120"/>
              </a:rPr>
              <a:t>90%
</a:t>
            </a:r>
            <a:endParaRPr lang="en-US" sz="4300" dirty="0"/>
          </a:p>
        </p:txBody>
      </p:sp>
      <p:sp>
        <p:nvSpPr>
          <p:cNvPr id="10" name="Text 8"/>
          <p:cNvSpPr/>
          <p:nvPr/>
        </p:nvSpPr>
        <p:spPr>
          <a:xfrm>
            <a:off x="8212461" y="2603435"/>
            <a:ext cx="3217253" cy="380990"/>
          </a:xfrm>
          <a:prstGeom prst="rect">
            <a:avLst/>
          </a:prstGeom>
          <a:noFill/>
          <a:ln/>
        </p:spPr>
        <p:txBody>
          <a:bodyPr wrap="square" lIns="0" tIns="0" rIns="0" bIns="0" rtlCol="0" anchor="t"/>
          <a:lstStyle/>
          <a:p>
            <a:pPr marL="0" indent="0" algn="ctr">
              <a:lnSpc>
                <a:spcPct val="130000"/>
              </a:lnSpc>
              <a:buNone/>
            </a:pPr>
            <a:r>
              <a:rPr lang="en-US" sz="1600" dirty="0">
                <a:solidFill>
                  <a:srgbClr val="00FFFF"/>
                </a:solidFill>
                <a:latin typeface="Calibri" pitchFamily="34" charset="0"/>
                <a:ea typeface="Calibri" pitchFamily="34" charset="-122"/>
                <a:cs typeface="Calibri" pitchFamily="34" charset="-120"/>
              </a:rPr>
              <a:t>Cyberattacks Start
</a:t>
            </a:r>
            <a:endParaRPr lang="en-US" sz="1600" dirty="0"/>
          </a:p>
        </p:txBody>
      </p:sp>
      <p:sp>
        <p:nvSpPr>
          <p:cNvPr id="11" name="Text 9"/>
          <p:cNvSpPr/>
          <p:nvPr/>
        </p:nvSpPr>
        <p:spPr>
          <a:xfrm>
            <a:off x="8212461" y="3047924"/>
            <a:ext cx="3217253" cy="571486"/>
          </a:xfrm>
          <a:prstGeom prst="rect">
            <a:avLst/>
          </a:prstGeom>
          <a:noFill/>
          <a:ln/>
        </p:spPr>
        <p:txBody>
          <a:bodyPr wrap="square" lIns="0" tIns="0" rIns="0" bIns="0" rtlCol="0" anchor="t"/>
          <a:lstStyle/>
          <a:p>
            <a:pPr marL="0" indent="0" algn="ctr">
              <a:lnSpc>
                <a:spcPct val="130000"/>
              </a:lnSpc>
              <a:buNone/>
            </a:pPr>
            <a:r>
              <a:rPr lang="en-US" sz="1300" dirty="0">
                <a:solidFill>
                  <a:srgbClr val="FFFFFF"/>
                </a:solidFill>
                <a:latin typeface="Calibri" pitchFamily="34" charset="0"/>
                <a:ea typeface="Calibri" pitchFamily="34" charset="-122"/>
                <a:cs typeface="Calibri" pitchFamily="34" charset="-120"/>
              </a:rPr>
              <a:t>Over 90% of cyberattacks begin with phishing attempts
</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8140496" cy="533387"/>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Incident Response to Phishing
</a:t>
            </a:r>
            <a:endParaRPr lang="en-US" sz="2900" dirty="0"/>
          </a:p>
        </p:txBody>
      </p:sp>
      <p:pic>
        <p:nvPicPr>
          <p:cNvPr id="3" name="Image 0" descr="preencoded.png"/>
          <p:cNvPicPr>
            <a:picLocks noChangeAspect="1"/>
          </p:cNvPicPr>
          <p:nvPr/>
        </p:nvPicPr>
        <p:blipFill>
          <a:blip r:embed="rId3"/>
          <a:srcRect/>
          <a:stretch/>
        </p:blipFill>
        <p:spPr>
          <a:xfrm>
            <a:off x="8775481" y="0"/>
            <a:ext cx="3370495" cy="6812280"/>
          </a:xfrm>
          <a:prstGeom prst="rect">
            <a:avLst/>
          </a:prstGeom>
        </p:spPr>
      </p:pic>
      <p:sp>
        <p:nvSpPr>
          <p:cNvPr id="4" name="Shape 1"/>
          <p:cNvSpPr/>
          <p:nvPr/>
        </p:nvSpPr>
        <p:spPr>
          <a:xfrm>
            <a:off x="380990" y="1473163"/>
            <a:ext cx="3962301" cy="2438339"/>
          </a:xfrm>
          <a:prstGeom prst="rect">
            <a:avLst/>
          </a:prstGeom>
          <a:noFill/>
          <a:ln/>
        </p:spPr>
      </p:sp>
      <p:sp>
        <p:nvSpPr>
          <p:cNvPr id="5" name="Text 2"/>
          <p:cNvSpPr/>
          <p:nvPr/>
        </p:nvSpPr>
        <p:spPr>
          <a:xfrm>
            <a:off x="634984"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Report to IT Security Team
</a:t>
            </a:r>
            <a:endParaRPr lang="en-US" sz="1300" dirty="0"/>
          </a:p>
        </p:txBody>
      </p:sp>
      <p:sp>
        <p:nvSpPr>
          <p:cNvPr id="6" name="Text 3"/>
          <p:cNvSpPr/>
          <p:nvPr/>
        </p:nvSpPr>
        <p:spPr>
          <a:xfrm>
            <a:off x="634984"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Immediately notify the IT security team about the phishing incident to initiate a swift response. This ensures that the threat is contained and further damage is mitigated.
</a:t>
            </a:r>
            <a:endParaRPr lang="en-US" sz="1300" dirty="0"/>
          </a:p>
        </p:txBody>
      </p:sp>
      <p:sp>
        <p:nvSpPr>
          <p:cNvPr id="7" name="Shape 4"/>
          <p:cNvSpPr/>
          <p:nvPr/>
        </p:nvSpPr>
        <p:spPr>
          <a:xfrm>
            <a:off x="4546486" y="1473163"/>
            <a:ext cx="3962301" cy="2438339"/>
          </a:xfrm>
          <a:prstGeom prst="rect">
            <a:avLst/>
          </a:prstGeom>
          <a:noFill/>
          <a:ln/>
        </p:spPr>
      </p:sp>
      <p:sp>
        <p:nvSpPr>
          <p:cNvPr id="8" name="Text 5"/>
          <p:cNvSpPr/>
          <p:nvPr/>
        </p:nvSpPr>
        <p:spPr>
          <a:xfrm>
            <a:off x="4800480" y="1701757"/>
            <a:ext cx="3454314"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Change Compromised Passwords
</a:t>
            </a:r>
            <a:endParaRPr lang="en-US" sz="1300" dirty="0"/>
          </a:p>
        </p:txBody>
      </p:sp>
      <p:sp>
        <p:nvSpPr>
          <p:cNvPr id="9" name="Text 6"/>
          <p:cNvSpPr/>
          <p:nvPr/>
        </p:nvSpPr>
        <p:spPr>
          <a:xfrm>
            <a:off x="4800480" y="2108147"/>
            <a:ext cx="3454314" cy="157476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Promptly change passwords for any accounts that may have been compromised. This action helps to secure sensitive information and prevents unauthorized access to critical systems.
</a:t>
            </a:r>
            <a:endParaRPr lang="en-US" sz="1300" dirty="0"/>
          </a:p>
        </p:txBody>
      </p:sp>
      <p:sp>
        <p:nvSpPr>
          <p:cNvPr id="10" name="Shape 7"/>
          <p:cNvSpPr/>
          <p:nvPr/>
        </p:nvSpPr>
        <p:spPr>
          <a:xfrm>
            <a:off x="380990" y="4419490"/>
            <a:ext cx="8140496" cy="724010"/>
          </a:xfrm>
          <a:prstGeom prst="rect">
            <a:avLst/>
          </a:prstGeom>
          <a:noFill/>
          <a:ln/>
        </p:spPr>
      </p:sp>
      <p:sp>
        <p:nvSpPr>
          <p:cNvPr id="11" name="Text 8"/>
          <p:cNvSpPr/>
          <p:nvPr/>
        </p:nvSpPr>
        <p:spPr>
          <a:xfrm>
            <a:off x="634984" y="4648084"/>
            <a:ext cx="7632509" cy="380990"/>
          </a:xfrm>
          <a:prstGeom prst="rect">
            <a:avLst/>
          </a:prstGeom>
          <a:noFill/>
          <a:ln/>
        </p:spPr>
        <p:txBody>
          <a:bodyPr wrap="square" lIns="0" tIns="0" rIns="0" bIns="0" rtlCol="0" anchor="t"/>
          <a:lstStyle/>
          <a:p>
            <a:pPr marL="0" indent="0" algn="l">
              <a:lnSpc>
                <a:spcPct val="130000"/>
              </a:lnSpc>
              <a:buNone/>
            </a:pPr>
            <a:r>
              <a:rPr lang="en-US" sz="1300" b="1" dirty="0">
                <a:solidFill>
                  <a:srgbClr val="FFD700"/>
                </a:solidFill>
                <a:latin typeface="Calibri" pitchFamily="34" charset="0"/>
                <a:ea typeface="Calibri" pitchFamily="34" charset="-122"/>
                <a:cs typeface="Calibri" pitchFamily="34" charset="-120"/>
              </a:rPr>
              <a:t>Analyze Attack Vector
</a:t>
            </a:r>
            <a:endParaRPr lang="en-US" sz="1300" dirty="0"/>
          </a:p>
        </p:txBody>
      </p:sp>
      <p:sp>
        <p:nvSpPr>
          <p:cNvPr id="12" name="Text 9"/>
          <p:cNvSpPr/>
          <p:nvPr/>
        </p:nvSpPr>
        <p:spPr>
          <a:xfrm>
            <a:off x="634984" y="5054474"/>
            <a:ext cx="7632509" cy="924537"/>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Conduct a thorough analysis of the phishing attack vector to identify vulnerabilities. Understanding how the attack occurred aids in developing strategies to prevent future incidents.
</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How to Assess Knowledge on Phishing Awareness
</a:t>
            </a:r>
            <a:endParaRPr lang="en-US" sz="2900" dirty="0"/>
          </a:p>
        </p:txBody>
      </p:sp>
      <p:sp>
        <p:nvSpPr>
          <p:cNvPr id="3" name="Text 1"/>
          <p:cNvSpPr/>
          <p:nvPr/>
        </p:nvSpPr>
        <p:spPr>
          <a:xfrm>
            <a:off x="761981" y="1696678"/>
            <a:ext cx="10667733" cy="380990"/>
          </a:xfrm>
          <a:prstGeom prst="rect">
            <a:avLst/>
          </a:prstGeom>
          <a:noFill/>
          <a:ln/>
        </p:spPr>
        <p:txBody>
          <a:bodyPr wrap="square" lIns="0" tIns="0" rIns="0" bIns="0" rtlCol="0" anchor="t"/>
          <a:lstStyle/>
          <a:p>
            <a:pPr marL="0" indent="0" algn="l">
              <a:lnSpc>
                <a:spcPct val="120000"/>
              </a:lnSpc>
              <a:buNone/>
            </a:pPr>
            <a:r>
              <a:rPr lang="en-US" sz="1300" b="1" dirty="0">
                <a:solidFill>
                  <a:srgbClr val="00FFFF"/>
                </a:solidFill>
                <a:latin typeface="Calibri" pitchFamily="34" charset="0"/>
                <a:ea typeface="Calibri" pitchFamily="34" charset="-122"/>
                <a:cs typeface="Calibri" pitchFamily="34" charset="-120"/>
              </a:rPr>
              <a:t>1. Define Phishing
</a:t>
            </a:r>
            <a:endParaRPr lang="en-US" sz="1300" dirty="0"/>
          </a:p>
        </p:txBody>
      </p:sp>
      <p:sp>
        <p:nvSpPr>
          <p:cNvPr id="4" name="Text 2"/>
          <p:cNvSpPr/>
          <p:nvPr/>
        </p:nvSpPr>
        <p:spPr>
          <a:xfrm>
            <a:off x="761981" y="2039569"/>
            <a:ext cx="10667733" cy="800080"/>
          </a:xfrm>
          <a:prstGeom prst="rect">
            <a:avLst/>
          </a:prstGeom>
          <a:noFill/>
          <a:ln/>
        </p:spPr>
        <p:txBody>
          <a:bodyPr wrap="square" lIns="0" tIns="0" rIns="0" bIns="0" rtlCol="0" anchor="t"/>
          <a:lstStyle/>
          <a:p>
            <a:pPr marL="0" indent="0" algn="l">
              <a:lnSpc>
                <a:spcPct val="150000"/>
              </a:lnSpc>
              <a:buNone/>
            </a:pPr>
            <a:r>
              <a:rPr lang="en-US" sz="1300" dirty="0">
                <a:solidFill>
                  <a:srgbClr val="FFFFFF"/>
                </a:solidFill>
                <a:latin typeface="Calibri" pitchFamily="34" charset="0"/>
                <a:ea typeface="Calibri" pitchFamily="34" charset="-122"/>
                <a:cs typeface="Calibri" pitchFamily="34" charset="-120"/>
              </a:rPr>
              <a:t>Begin by explaining what phishing is, including its purpose and how it targets individuals and organizations.
</a:t>
            </a:r>
            <a:endParaRPr lang="en-US" sz="1300" dirty="0"/>
          </a:p>
        </p:txBody>
      </p:sp>
      <p:sp>
        <p:nvSpPr>
          <p:cNvPr id="5" name="Text 3"/>
          <p:cNvSpPr/>
          <p:nvPr/>
        </p:nvSpPr>
        <p:spPr>
          <a:xfrm>
            <a:off x="761981" y="2571432"/>
            <a:ext cx="10667733" cy="380990"/>
          </a:xfrm>
          <a:prstGeom prst="rect">
            <a:avLst/>
          </a:prstGeom>
          <a:noFill/>
          <a:ln/>
        </p:spPr>
        <p:txBody>
          <a:bodyPr wrap="square" lIns="0" tIns="0" rIns="0" bIns="0" rtlCol="0" anchor="t"/>
          <a:lstStyle/>
          <a:p>
            <a:pPr marL="0" indent="0" algn="l">
              <a:lnSpc>
                <a:spcPct val="120000"/>
              </a:lnSpc>
              <a:buNone/>
            </a:pPr>
            <a:r>
              <a:rPr lang="en-US" sz="1300" b="1" dirty="0">
                <a:solidFill>
                  <a:srgbClr val="00FFFF"/>
                </a:solidFill>
                <a:latin typeface="Calibri" pitchFamily="34" charset="0"/>
                <a:ea typeface="Calibri" pitchFamily="34" charset="-122"/>
                <a:cs typeface="Calibri" pitchFamily="34" charset="-120"/>
              </a:rPr>
              <a:t>2. Identify Phishing Types
</a:t>
            </a:r>
            <a:endParaRPr lang="en-US" sz="1300" dirty="0"/>
          </a:p>
        </p:txBody>
      </p:sp>
      <p:sp>
        <p:nvSpPr>
          <p:cNvPr id="6" name="Text 4"/>
          <p:cNvSpPr/>
          <p:nvPr/>
        </p:nvSpPr>
        <p:spPr>
          <a:xfrm>
            <a:off x="761981" y="2914323"/>
            <a:ext cx="10667733" cy="800080"/>
          </a:xfrm>
          <a:prstGeom prst="rect">
            <a:avLst/>
          </a:prstGeom>
          <a:noFill/>
          <a:ln/>
        </p:spPr>
        <p:txBody>
          <a:bodyPr wrap="square" lIns="0" tIns="0" rIns="0" bIns="0" rtlCol="0" anchor="t"/>
          <a:lstStyle/>
          <a:p>
            <a:pPr marL="0" indent="0" algn="l">
              <a:lnSpc>
                <a:spcPct val="150000"/>
              </a:lnSpc>
              <a:buNone/>
            </a:pPr>
            <a:r>
              <a:rPr lang="en-US" sz="1300" dirty="0">
                <a:solidFill>
                  <a:srgbClr val="FFFFFF"/>
                </a:solidFill>
                <a:latin typeface="Calibri" pitchFamily="34" charset="0"/>
                <a:ea typeface="Calibri" pitchFamily="34" charset="-122"/>
                <a:cs typeface="Calibri" pitchFamily="34" charset="-120"/>
              </a:rPr>
              <a:t>List and describe at least two types of phishing attacks, such as spear phishing and whaling, to provide context for the quiz.
</a:t>
            </a:r>
            <a:endParaRPr lang="en-US" sz="1300" dirty="0"/>
          </a:p>
        </p:txBody>
      </p:sp>
      <p:sp>
        <p:nvSpPr>
          <p:cNvPr id="7" name="Text 5"/>
          <p:cNvSpPr/>
          <p:nvPr/>
        </p:nvSpPr>
        <p:spPr>
          <a:xfrm>
            <a:off x="761981" y="3712879"/>
            <a:ext cx="10667733" cy="380990"/>
          </a:xfrm>
          <a:prstGeom prst="rect">
            <a:avLst/>
          </a:prstGeom>
          <a:noFill/>
          <a:ln/>
        </p:spPr>
        <p:txBody>
          <a:bodyPr wrap="square" lIns="0" tIns="0" rIns="0" bIns="0" rtlCol="0" anchor="t"/>
          <a:lstStyle/>
          <a:p>
            <a:pPr marL="0" indent="0" algn="l">
              <a:lnSpc>
                <a:spcPct val="120000"/>
              </a:lnSpc>
              <a:buNone/>
            </a:pPr>
            <a:r>
              <a:rPr lang="en-US" sz="1300" b="1" dirty="0">
                <a:solidFill>
                  <a:srgbClr val="00FFFF"/>
                </a:solidFill>
                <a:latin typeface="Calibri" pitchFamily="34" charset="0"/>
                <a:ea typeface="Calibri" pitchFamily="34" charset="-122"/>
                <a:cs typeface="Calibri" pitchFamily="34" charset="-120"/>
              </a:rPr>
              <a:t>3. Recognize Phishing Emails
</a:t>
            </a:r>
            <a:endParaRPr lang="en-US" sz="1300" dirty="0"/>
          </a:p>
        </p:txBody>
      </p:sp>
      <p:sp>
        <p:nvSpPr>
          <p:cNvPr id="8" name="Text 6"/>
          <p:cNvSpPr/>
          <p:nvPr/>
        </p:nvSpPr>
        <p:spPr>
          <a:xfrm>
            <a:off x="761981" y="4055771"/>
            <a:ext cx="10667733" cy="800080"/>
          </a:xfrm>
          <a:prstGeom prst="rect">
            <a:avLst/>
          </a:prstGeom>
          <a:noFill/>
          <a:ln/>
        </p:spPr>
        <p:txBody>
          <a:bodyPr wrap="square" lIns="0" tIns="0" rIns="0" bIns="0" rtlCol="0" anchor="t"/>
          <a:lstStyle/>
          <a:p>
            <a:pPr marL="0" indent="0" algn="l">
              <a:lnSpc>
                <a:spcPct val="150000"/>
              </a:lnSpc>
              <a:buNone/>
            </a:pPr>
            <a:r>
              <a:rPr lang="en-US" sz="1300" dirty="0">
                <a:solidFill>
                  <a:srgbClr val="FFFFFF"/>
                </a:solidFill>
                <a:latin typeface="Calibri" pitchFamily="34" charset="0"/>
                <a:ea typeface="Calibri" pitchFamily="34" charset="-122"/>
                <a:cs typeface="Calibri" pitchFamily="34" charset="-120"/>
              </a:rPr>
              <a:t>Outline key indicators of phishing emails, such as suspicious sender addresses, poor grammar, and urgent calls to action.
</a:t>
            </a:r>
            <a:endParaRPr lang="en-US" sz="1300" dirty="0"/>
          </a:p>
        </p:txBody>
      </p:sp>
      <p:sp>
        <p:nvSpPr>
          <p:cNvPr id="9" name="Text 7"/>
          <p:cNvSpPr/>
          <p:nvPr/>
        </p:nvSpPr>
        <p:spPr>
          <a:xfrm>
            <a:off x="761981" y="4854327"/>
            <a:ext cx="10667733" cy="380990"/>
          </a:xfrm>
          <a:prstGeom prst="rect">
            <a:avLst/>
          </a:prstGeom>
          <a:noFill/>
          <a:ln/>
        </p:spPr>
        <p:txBody>
          <a:bodyPr wrap="square" lIns="0" tIns="0" rIns="0" bIns="0" rtlCol="0" anchor="t"/>
          <a:lstStyle/>
          <a:p>
            <a:pPr marL="0" indent="0" algn="l">
              <a:lnSpc>
                <a:spcPct val="120000"/>
              </a:lnSpc>
              <a:buNone/>
            </a:pPr>
            <a:r>
              <a:rPr lang="en-US" sz="1300" b="1" dirty="0">
                <a:solidFill>
                  <a:srgbClr val="00FFFF"/>
                </a:solidFill>
                <a:latin typeface="Calibri" pitchFamily="34" charset="0"/>
                <a:ea typeface="Calibri" pitchFamily="34" charset="-122"/>
                <a:cs typeface="Calibri" pitchFamily="34" charset="-120"/>
              </a:rPr>
              <a:t>4. Respond to Suspicious Emails
</a:t>
            </a:r>
            <a:endParaRPr lang="en-US" sz="1300" dirty="0"/>
          </a:p>
        </p:txBody>
      </p:sp>
      <p:sp>
        <p:nvSpPr>
          <p:cNvPr id="10" name="Text 8"/>
          <p:cNvSpPr/>
          <p:nvPr/>
        </p:nvSpPr>
        <p:spPr>
          <a:xfrm>
            <a:off x="761981" y="5197218"/>
            <a:ext cx="10667733" cy="800080"/>
          </a:xfrm>
          <a:prstGeom prst="rect">
            <a:avLst/>
          </a:prstGeom>
          <a:noFill/>
          <a:ln/>
        </p:spPr>
        <p:txBody>
          <a:bodyPr wrap="square" lIns="0" tIns="0" rIns="0" bIns="0" rtlCol="0" anchor="t"/>
          <a:lstStyle/>
          <a:p>
            <a:pPr marL="0" indent="0" algn="l">
              <a:lnSpc>
                <a:spcPct val="150000"/>
              </a:lnSpc>
              <a:buNone/>
            </a:pPr>
            <a:r>
              <a:rPr lang="en-US" sz="1300" dirty="0">
                <a:solidFill>
                  <a:srgbClr val="FFFFFF"/>
                </a:solidFill>
                <a:latin typeface="Calibri" pitchFamily="34" charset="0"/>
                <a:ea typeface="Calibri" pitchFamily="34" charset="-122"/>
                <a:cs typeface="Calibri" pitchFamily="34" charset="-120"/>
              </a:rPr>
              <a:t>Provide clear instructions on what actions to take if a suspicious email is received, including reporting it to IT.
</a:t>
            </a:r>
            <a:endParaRPr lang="en-US" sz="1300" dirty="0"/>
          </a:p>
        </p:txBody>
      </p:sp>
      <p:sp>
        <p:nvSpPr>
          <p:cNvPr id="11" name="Text 9"/>
          <p:cNvSpPr/>
          <p:nvPr/>
        </p:nvSpPr>
        <p:spPr>
          <a:xfrm>
            <a:off x="761981" y="5729081"/>
            <a:ext cx="10667733" cy="380990"/>
          </a:xfrm>
          <a:prstGeom prst="rect">
            <a:avLst/>
          </a:prstGeom>
          <a:noFill/>
          <a:ln/>
        </p:spPr>
        <p:txBody>
          <a:bodyPr wrap="square" lIns="0" tIns="0" rIns="0" bIns="0" rtlCol="0" anchor="t"/>
          <a:lstStyle/>
          <a:p>
            <a:pPr marL="0" indent="0" algn="l">
              <a:lnSpc>
                <a:spcPct val="120000"/>
              </a:lnSpc>
              <a:buNone/>
            </a:pPr>
            <a:r>
              <a:rPr lang="en-US" sz="1300" b="1" dirty="0">
                <a:solidFill>
                  <a:srgbClr val="00FFFF"/>
                </a:solidFill>
                <a:latin typeface="Calibri" pitchFamily="34" charset="0"/>
                <a:ea typeface="Calibri" pitchFamily="34" charset="-122"/>
                <a:cs typeface="Calibri" pitchFamily="34" charset="-120"/>
              </a:rPr>
              <a:t>5. Emphasize Multi-Factor Authentication
</a:t>
            </a:r>
            <a:endParaRPr lang="en-US" sz="1300" dirty="0"/>
          </a:p>
        </p:txBody>
      </p:sp>
      <p:sp>
        <p:nvSpPr>
          <p:cNvPr id="12" name="Text 10"/>
          <p:cNvSpPr/>
          <p:nvPr/>
        </p:nvSpPr>
        <p:spPr>
          <a:xfrm>
            <a:off x="761981" y="6071972"/>
            <a:ext cx="10667733" cy="800080"/>
          </a:xfrm>
          <a:prstGeom prst="rect">
            <a:avLst/>
          </a:prstGeom>
          <a:noFill/>
          <a:ln/>
        </p:spPr>
        <p:txBody>
          <a:bodyPr wrap="square" lIns="0" tIns="0" rIns="0" bIns="0" rtlCol="0" anchor="t"/>
          <a:lstStyle/>
          <a:p>
            <a:pPr marL="0" indent="0" algn="l">
              <a:lnSpc>
                <a:spcPct val="150000"/>
              </a:lnSpc>
              <a:buNone/>
            </a:pPr>
            <a:r>
              <a:rPr lang="en-US" sz="1300" dirty="0">
                <a:solidFill>
                  <a:srgbClr val="FFFFFF"/>
                </a:solidFill>
                <a:latin typeface="Calibri" pitchFamily="34" charset="0"/>
                <a:ea typeface="Calibri" pitchFamily="34" charset="-122"/>
                <a:cs typeface="Calibri" pitchFamily="34" charset="-120"/>
              </a:rPr>
              <a:t>Explain the importance of multi-factor authentication in preventing unauthorized access and enhancing security.
</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548626" y="457189"/>
            <a:ext cx="10667733" cy="888978"/>
          </a:xfrm>
          <a:prstGeom prst="rect">
            <a:avLst/>
          </a:prstGeom>
          <a:noFill/>
          <a:ln/>
        </p:spPr>
        <p:txBody>
          <a:bodyPr wrap="square" lIns="0" tIns="0" rIns="0" bIns="0" rtlCol="0" anchor="t"/>
          <a:lstStyle/>
          <a:p>
            <a:pPr marL="0" indent="0" algn="l">
              <a:lnSpc>
                <a:spcPct val="130000"/>
              </a:lnSpc>
              <a:buNone/>
            </a:pPr>
            <a:r>
              <a:rPr lang="en-US" sz="2900" dirty="0">
                <a:solidFill>
                  <a:srgbClr val="00FFFF"/>
                </a:solidFill>
                <a:latin typeface="Calibri" pitchFamily="34" charset="0"/>
                <a:ea typeface="Calibri" pitchFamily="34" charset="-122"/>
                <a:cs typeface="Calibri" pitchFamily="34" charset="-120"/>
              </a:rPr>
              <a:t>Frequently Asked Questions
</a:t>
            </a:r>
            <a:endParaRPr lang="en-US" sz="2900" dirty="0"/>
          </a:p>
        </p:txBody>
      </p:sp>
      <p:sp>
        <p:nvSpPr>
          <p:cNvPr id="3" name="Text 1"/>
          <p:cNvSpPr/>
          <p:nvPr/>
        </p:nvSpPr>
        <p:spPr>
          <a:xfrm>
            <a:off x="761981" y="1269968"/>
            <a:ext cx="10667733" cy="462268"/>
          </a:xfrm>
          <a:prstGeom prst="rect">
            <a:avLst/>
          </a:prstGeom>
          <a:noFill/>
          <a:ln/>
        </p:spPr>
        <p:txBody>
          <a:bodyPr wrap="square" lIns="0" tIns="0" rIns="0" bIns="0" rtlCol="0" anchor="t"/>
          <a:lstStyle/>
          <a:p>
            <a:pPr marL="0" indent="0" algn="l">
              <a:lnSpc>
                <a:spcPct val="130000"/>
              </a:lnSpc>
              <a:buNone/>
            </a:pPr>
            <a:r>
              <a:rPr lang="en-US" sz="1300" dirty="0">
                <a:solidFill>
                  <a:srgbClr val="FFD700"/>
                </a:solidFill>
                <a:latin typeface="Calibri" pitchFamily="34" charset="0"/>
                <a:ea typeface="Calibri" pitchFamily="34" charset="-122"/>
                <a:cs typeface="Calibri" pitchFamily="34" charset="-120"/>
              </a:rPr>
              <a:t>Q: What should I do if I clicked on a phishing link?
</a:t>
            </a:r>
            <a:endParaRPr lang="en-US" sz="1300" dirty="0"/>
          </a:p>
        </p:txBody>
      </p:sp>
      <p:sp>
        <p:nvSpPr>
          <p:cNvPr id="4" name="Text 2"/>
          <p:cNvSpPr/>
          <p:nvPr/>
        </p:nvSpPr>
        <p:spPr>
          <a:xfrm>
            <a:off x="1015975" y="1650959"/>
            <a:ext cx="10413740" cy="76198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 Immediately disconnect from the internet, run a full antivirus scan, and change your passwords for any accounts that may have been compromised.
</a:t>
            </a:r>
            <a:endParaRPr lang="en-US" sz="1300" dirty="0"/>
          </a:p>
        </p:txBody>
      </p:sp>
      <p:sp>
        <p:nvSpPr>
          <p:cNvPr id="5" name="Text 3"/>
          <p:cNvSpPr/>
          <p:nvPr/>
        </p:nvSpPr>
        <p:spPr>
          <a:xfrm>
            <a:off x="761981" y="2539937"/>
            <a:ext cx="10667733" cy="380990"/>
          </a:xfrm>
          <a:prstGeom prst="rect">
            <a:avLst/>
          </a:prstGeom>
          <a:noFill/>
          <a:ln/>
        </p:spPr>
        <p:txBody>
          <a:bodyPr wrap="square" lIns="0" tIns="0" rIns="0" bIns="0" rtlCol="0" anchor="t"/>
          <a:lstStyle/>
          <a:p>
            <a:pPr marL="0" indent="0" algn="l">
              <a:lnSpc>
                <a:spcPct val="130000"/>
              </a:lnSpc>
              <a:buNone/>
            </a:pPr>
            <a:r>
              <a:rPr lang="en-US" sz="1300" dirty="0">
                <a:solidFill>
                  <a:srgbClr val="FFD700"/>
                </a:solidFill>
                <a:latin typeface="Calibri" pitchFamily="34" charset="0"/>
                <a:ea typeface="Calibri" pitchFamily="34" charset="-122"/>
                <a:cs typeface="Calibri" pitchFamily="34" charset="-120"/>
              </a:rPr>
              <a:t>Q: How can I report phishing attempts?
</a:t>
            </a:r>
            <a:endParaRPr lang="en-US" sz="1300" dirty="0"/>
          </a:p>
        </p:txBody>
      </p:sp>
      <p:sp>
        <p:nvSpPr>
          <p:cNvPr id="6" name="Text 4"/>
          <p:cNvSpPr/>
          <p:nvPr/>
        </p:nvSpPr>
        <p:spPr>
          <a:xfrm>
            <a:off x="1015975" y="2920927"/>
            <a:ext cx="10413740" cy="924537"/>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 You can report phishing emails to your email provider and forward them to organizations like the Anti-Phishing Working Group at reportphishing@apwg.org.
</a:t>
            </a:r>
            <a:endParaRPr lang="en-US" sz="1300" dirty="0"/>
          </a:p>
        </p:txBody>
      </p:sp>
      <p:sp>
        <p:nvSpPr>
          <p:cNvPr id="7" name="Text 5"/>
          <p:cNvSpPr/>
          <p:nvPr/>
        </p:nvSpPr>
        <p:spPr>
          <a:xfrm>
            <a:off x="761981" y="3809905"/>
            <a:ext cx="10667733" cy="380990"/>
          </a:xfrm>
          <a:prstGeom prst="rect">
            <a:avLst/>
          </a:prstGeom>
          <a:noFill/>
          <a:ln/>
        </p:spPr>
        <p:txBody>
          <a:bodyPr wrap="square" lIns="0" tIns="0" rIns="0" bIns="0" rtlCol="0" anchor="t"/>
          <a:lstStyle/>
          <a:p>
            <a:pPr marL="0" indent="0" algn="l">
              <a:lnSpc>
                <a:spcPct val="130000"/>
              </a:lnSpc>
              <a:buNone/>
            </a:pPr>
            <a:r>
              <a:rPr lang="en-US" sz="1300" dirty="0">
                <a:solidFill>
                  <a:srgbClr val="FFD700"/>
                </a:solidFill>
                <a:latin typeface="Calibri" pitchFamily="34" charset="0"/>
                <a:ea typeface="Calibri" pitchFamily="34" charset="-122"/>
                <a:cs typeface="Calibri" pitchFamily="34" charset="-120"/>
              </a:rPr>
              <a:t>Q: What tools can help detect phishing emails?
</a:t>
            </a:r>
            <a:endParaRPr lang="en-US" sz="1300" dirty="0"/>
          </a:p>
        </p:txBody>
      </p:sp>
      <p:sp>
        <p:nvSpPr>
          <p:cNvPr id="8" name="Text 6"/>
          <p:cNvSpPr/>
          <p:nvPr/>
        </p:nvSpPr>
        <p:spPr>
          <a:xfrm>
            <a:off x="1015975" y="4190895"/>
            <a:ext cx="10413740" cy="924537"/>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 Email filtering tools, browser extensions like PhishTank, and security software with phishing detection capabilities can help identify and block phishing attempts.
</a:t>
            </a:r>
            <a:endParaRPr lang="en-US" sz="1300" dirty="0"/>
          </a:p>
        </p:txBody>
      </p:sp>
      <p:sp>
        <p:nvSpPr>
          <p:cNvPr id="9" name="Text 7"/>
          <p:cNvSpPr/>
          <p:nvPr/>
        </p:nvSpPr>
        <p:spPr>
          <a:xfrm>
            <a:off x="761981" y="5079873"/>
            <a:ext cx="10667733" cy="380990"/>
          </a:xfrm>
          <a:prstGeom prst="rect">
            <a:avLst/>
          </a:prstGeom>
          <a:noFill/>
          <a:ln/>
        </p:spPr>
        <p:txBody>
          <a:bodyPr wrap="square" lIns="0" tIns="0" rIns="0" bIns="0" rtlCol="0" anchor="t"/>
          <a:lstStyle/>
          <a:p>
            <a:pPr marL="0" indent="0" algn="l">
              <a:lnSpc>
                <a:spcPct val="130000"/>
              </a:lnSpc>
              <a:buNone/>
            </a:pPr>
            <a:r>
              <a:rPr lang="en-US" sz="1300" dirty="0">
                <a:solidFill>
                  <a:srgbClr val="FFD700"/>
                </a:solidFill>
                <a:latin typeface="Calibri" pitchFamily="34" charset="0"/>
                <a:ea typeface="Calibri" pitchFamily="34" charset="-122"/>
                <a:cs typeface="Calibri" pitchFamily="34" charset="-120"/>
              </a:rPr>
              <a:t>Q: Are there any legal implications for phishing?
</a:t>
            </a:r>
            <a:endParaRPr lang="en-US" sz="1300" dirty="0"/>
          </a:p>
        </p:txBody>
      </p:sp>
      <p:sp>
        <p:nvSpPr>
          <p:cNvPr id="10" name="Text 8"/>
          <p:cNvSpPr/>
          <p:nvPr/>
        </p:nvSpPr>
        <p:spPr>
          <a:xfrm>
            <a:off x="1015975" y="5460863"/>
            <a:ext cx="10413740" cy="761981"/>
          </a:xfrm>
          <a:prstGeom prst="rect">
            <a:avLst/>
          </a:prstGeom>
          <a:noFill/>
          <a:ln/>
        </p:spPr>
        <p:txBody>
          <a:bodyPr wrap="square" lIns="0" tIns="0" rIns="0" bIns="0" rtlCol="0" anchor="t"/>
          <a:lstStyle/>
          <a:p>
            <a:pPr marL="0" indent="0" algn="l">
              <a:lnSpc>
                <a:spcPct val="130000"/>
              </a:lnSpc>
              <a:buNone/>
            </a:pPr>
            <a:r>
              <a:rPr lang="en-US" sz="1300" dirty="0">
                <a:solidFill>
                  <a:srgbClr val="E0E0E0"/>
                </a:solidFill>
                <a:latin typeface="Calibri" pitchFamily="34" charset="0"/>
                <a:ea typeface="Calibri" pitchFamily="34" charset="-122"/>
                <a:cs typeface="Calibri" pitchFamily="34" charset="-120"/>
              </a:rPr>
              <a:t>A: Yes, phishing is illegal and can lead to severe penalties, including fines and imprisonment for those who engage in such fraudulent activities.
</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215134" y="1765952"/>
            <a:ext cx="10667733" cy="761981"/>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Phishing Statistics and Tips
</a:t>
            </a:r>
            <a:endParaRPr lang="en-US" sz="2900" dirty="0"/>
          </a:p>
        </p:txBody>
      </p:sp>
      <p:sp>
        <p:nvSpPr>
          <p:cNvPr id="3" name="Text 1"/>
          <p:cNvSpPr/>
          <p:nvPr/>
        </p:nvSpPr>
        <p:spPr>
          <a:xfrm>
            <a:off x="926328" y="3086726"/>
            <a:ext cx="10159746" cy="1600160"/>
          </a:xfrm>
          <a:prstGeom prst="rect">
            <a:avLst/>
          </a:prstGeom>
          <a:noFill/>
          <a:ln/>
        </p:spPr>
        <p:txBody>
          <a:bodyPr wrap="square" lIns="0" tIns="0" rIns="0" bIns="0" rtlCol="0" anchor="t"/>
          <a:lstStyle/>
          <a:p>
            <a:pPr marL="0" indent="0" algn="ctr">
              <a:lnSpc>
                <a:spcPct val="150000"/>
              </a:lnSpc>
              <a:buNone/>
            </a:pPr>
            <a:r>
              <a:rPr lang="en-US" sz="1300" dirty="0">
                <a:solidFill>
                  <a:srgbClr val="FFFFFF"/>
                </a:solidFill>
                <a:latin typeface="Calibri" pitchFamily="34" charset="0"/>
                <a:ea typeface="Calibri" pitchFamily="34" charset="-122"/>
                <a:cs typeface="Calibri" pitchFamily="34" charset="-120"/>
              </a:rPr>
              <a:t>This infographic visually represents critical phishing statistics, including that 90% of data breaches start with a phishing email. It also highlights essential prevention tips, such as verifying sender authenticity and using multi-factor authentication.
</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1A"/>
        </a:solidFill>
        <a:effectLst/>
      </p:bgPr>
    </p:bg>
    <p:spTree>
      <p:nvGrpSpPr>
        <p:cNvPr id="1" name=""/>
        <p:cNvGrpSpPr/>
        <p:nvPr/>
      </p:nvGrpSpPr>
      <p:grpSpPr>
        <a:xfrm>
          <a:off x="0" y="0"/>
          <a:ext cx="0" cy="0"/>
          <a:chOff x="0" y="0"/>
          <a:chExt cx="0" cy="0"/>
        </a:xfrm>
      </p:grpSpPr>
      <p:sp>
        <p:nvSpPr>
          <p:cNvPr id="2" name="Text 0"/>
          <p:cNvSpPr/>
          <p:nvPr/>
        </p:nvSpPr>
        <p:spPr>
          <a:xfrm>
            <a:off x="1015975" y="2285943"/>
            <a:ext cx="10159746" cy="1015975"/>
          </a:xfrm>
          <a:prstGeom prst="rect">
            <a:avLst/>
          </a:prstGeom>
          <a:noFill/>
          <a:ln/>
        </p:spPr>
        <p:txBody>
          <a:bodyPr wrap="square" lIns="0" tIns="0" rIns="0" bIns="0" rtlCol="0" anchor="t"/>
          <a:lstStyle/>
          <a:p>
            <a:pPr marL="0" indent="0" algn="ctr">
              <a:lnSpc>
                <a:spcPct val="120000"/>
              </a:lnSpc>
              <a:buNone/>
            </a:pPr>
            <a:r>
              <a:rPr lang="en-US" sz="2900" b="1" dirty="0">
                <a:solidFill>
                  <a:srgbClr val="00FFFF"/>
                </a:solidFill>
                <a:latin typeface="Calibri" pitchFamily="34" charset="0"/>
                <a:ea typeface="Calibri" pitchFamily="34" charset="-122"/>
                <a:cs typeface="Calibri" pitchFamily="34" charset="-120"/>
              </a:rPr>
              <a:t>Key Takeaways
</a:t>
            </a:r>
            <a:endParaRPr lang="en-US" sz="2900" dirty="0"/>
          </a:p>
        </p:txBody>
      </p:sp>
      <p:sp>
        <p:nvSpPr>
          <p:cNvPr id="3" name="Text 1"/>
          <p:cNvSpPr/>
          <p:nvPr/>
        </p:nvSpPr>
        <p:spPr>
          <a:xfrm>
            <a:off x="1523962" y="3555911"/>
            <a:ext cx="9143771" cy="2666933"/>
          </a:xfrm>
          <a:prstGeom prst="rect">
            <a:avLst/>
          </a:prstGeom>
          <a:noFill/>
          <a:ln/>
        </p:spPr>
        <p:txBody>
          <a:bodyPr wrap="square" lIns="0" tIns="0" rIns="0" bIns="0" rtlCol="0" anchor="t"/>
          <a:lstStyle/>
          <a:p>
            <a:pPr marL="0" indent="0" algn="ctr">
              <a:lnSpc>
                <a:spcPct val="150000"/>
              </a:lnSpc>
              <a:buNone/>
            </a:pPr>
            <a:r>
              <a:rPr lang="en-US" sz="1300" dirty="0">
                <a:solidFill>
                  <a:srgbClr val="FFFFFF"/>
                </a:solidFill>
                <a:latin typeface="Calibri" pitchFamily="34" charset="0"/>
                <a:ea typeface="Calibri" pitchFamily="34" charset="-122"/>
                <a:cs typeface="Calibri" pitchFamily="34" charset="-120"/>
              </a:rPr>
              <a:t>Phishing remains a significant threat, with 90% of data breaches linked to phishing attacks. Key takeaways include recognizing phishing signs, implementing robust email filters, and conducting regular training. Moving forward, organizations must prioritize continuous education and incident response planning to mitigate risks effectively. By fostering a culture of cybersecurity awareness, we can significantly reduce vulnerability to these attacks and enhance overall security posture.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1443</Words>
  <Application>Microsoft Office PowerPoint</Application>
  <PresentationFormat>Widescreen</PresentationFormat>
  <Paragraphs>114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MANISH MANDAL</cp:lastModifiedBy>
  <cp:revision>2</cp:revision>
  <dcterms:created xsi:type="dcterms:W3CDTF">2026-07-15T14:18:30Z</dcterms:created>
  <dcterms:modified xsi:type="dcterms:W3CDTF">2026-07-15T15:09:02Z</dcterms:modified>
</cp:coreProperties>
</file>